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eague Spartan" charset="1" panose="00000800000000000000"/>
      <p:regular r:id="rId16"/>
    </p:embeddedFont>
    <p:embeddedFont>
      <p:font typeface="Helvetica World" charset="1" panose="020B0500040000020004"/>
      <p:regular r:id="rId17"/>
    </p:embeddedFont>
    <p:embeddedFont>
      <p:font typeface="Open Sauce Bold" charset="1" panose="00000800000000000000"/>
      <p:regular r:id="rId18"/>
    </p:embeddedFont>
    <p:embeddedFont>
      <p:font typeface="Open Sauce" charset="1" panose="00000500000000000000"/>
      <p:regular r:id="rId19"/>
    </p:embeddedFont>
    <p:embeddedFont>
      <p:font typeface="Arimo Bold" charset="1" panose="020B0704020202020204"/>
      <p:regular r:id="rId20"/>
    </p:embeddedFont>
    <p:embeddedFont>
      <p:font typeface="Poppins Bold" charset="1" panose="00000800000000000000"/>
      <p:regular r:id="rId21"/>
    </p:embeddedFont>
    <p:embeddedFont>
      <p:font typeface="Helvetica World Bold" charset="1" panose="020B0800040000020004"/>
      <p:regular r:id="rId22"/>
    </p:embeddedFont>
    <p:embeddedFont>
      <p:font typeface="Anton" charset="1" panose="00000500000000000000"/>
      <p:regular r:id="rId23"/>
    </p:embeddedFont>
    <p:embeddedFont>
      <p:font typeface="Arimo" charset="1" panose="020B0604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4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12" Target="../media/image56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59.png" Type="http://schemas.openxmlformats.org/officeDocument/2006/relationships/image"/><Relationship Id="rId7" Target="../media/image60.png" Type="http://schemas.openxmlformats.org/officeDocument/2006/relationships/image"/><Relationship Id="rId8" Target="../media/image6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4908179" y="-4337158"/>
            <a:ext cx="13730710" cy="14361545"/>
          </a:xfrm>
          <a:custGeom>
            <a:avLst/>
            <a:gdLst/>
            <a:ahLst/>
            <a:cxnLst/>
            <a:rect r="r" b="b" t="t" l="l"/>
            <a:pathLst>
              <a:path h="14361545" w="13730710">
                <a:moveTo>
                  <a:pt x="13730710" y="14361546"/>
                </a:moveTo>
                <a:lnTo>
                  <a:pt x="0" y="14361546"/>
                </a:lnTo>
                <a:lnTo>
                  <a:pt x="0" y="0"/>
                </a:lnTo>
                <a:lnTo>
                  <a:pt x="13730710" y="0"/>
                </a:lnTo>
                <a:lnTo>
                  <a:pt x="13730710" y="1436154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351603" y="2090616"/>
            <a:ext cx="12878817" cy="13470514"/>
          </a:xfrm>
          <a:custGeom>
            <a:avLst/>
            <a:gdLst/>
            <a:ahLst/>
            <a:cxnLst/>
            <a:rect r="r" b="b" t="t" l="l"/>
            <a:pathLst>
              <a:path h="13470514" w="12878817">
                <a:moveTo>
                  <a:pt x="0" y="0"/>
                </a:moveTo>
                <a:lnTo>
                  <a:pt x="12878817" y="0"/>
                </a:lnTo>
                <a:lnTo>
                  <a:pt x="12878817" y="13470514"/>
                </a:lnTo>
                <a:lnTo>
                  <a:pt x="0" y="13470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64535" y="2474677"/>
            <a:ext cx="15035447" cy="5921870"/>
            <a:chOff x="0" y="0"/>
            <a:chExt cx="3959953" cy="15596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59953" cy="1559669"/>
            </a:xfrm>
            <a:custGeom>
              <a:avLst/>
              <a:gdLst/>
              <a:ahLst/>
              <a:cxnLst/>
              <a:rect r="r" b="b" t="t" l="l"/>
              <a:pathLst>
                <a:path h="1559669" w="3959953">
                  <a:moveTo>
                    <a:pt x="51491" y="0"/>
                  </a:moveTo>
                  <a:lnTo>
                    <a:pt x="3908462" y="0"/>
                  </a:lnTo>
                  <a:cubicBezTo>
                    <a:pt x="3922118" y="0"/>
                    <a:pt x="3935215" y="5425"/>
                    <a:pt x="3944872" y="15081"/>
                  </a:cubicBezTo>
                  <a:cubicBezTo>
                    <a:pt x="3954528" y="24738"/>
                    <a:pt x="3959953" y="37835"/>
                    <a:pt x="3959953" y="51491"/>
                  </a:cubicBezTo>
                  <a:lnTo>
                    <a:pt x="3959953" y="1508178"/>
                  </a:lnTo>
                  <a:cubicBezTo>
                    <a:pt x="3959953" y="1521835"/>
                    <a:pt x="3954528" y="1534932"/>
                    <a:pt x="3944872" y="1544588"/>
                  </a:cubicBezTo>
                  <a:cubicBezTo>
                    <a:pt x="3935215" y="1554244"/>
                    <a:pt x="3922118" y="1559669"/>
                    <a:pt x="3908462" y="1559669"/>
                  </a:cubicBezTo>
                  <a:lnTo>
                    <a:pt x="51491" y="1559669"/>
                  </a:lnTo>
                  <a:cubicBezTo>
                    <a:pt x="23053" y="1559669"/>
                    <a:pt x="0" y="1536616"/>
                    <a:pt x="0" y="1508178"/>
                  </a:cubicBezTo>
                  <a:lnTo>
                    <a:pt x="0" y="51491"/>
                  </a:lnTo>
                  <a:cubicBezTo>
                    <a:pt x="0" y="23053"/>
                    <a:pt x="23053" y="0"/>
                    <a:pt x="51491" y="0"/>
                  </a:cubicBezTo>
                  <a:close/>
                </a:path>
              </a:pathLst>
            </a:custGeom>
            <a:solidFill>
              <a:srgbClr val="C4EBF5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959953" cy="1607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432662" y="1571473"/>
            <a:ext cx="7818531" cy="5515618"/>
          </a:xfrm>
          <a:custGeom>
            <a:avLst/>
            <a:gdLst/>
            <a:ahLst/>
            <a:cxnLst/>
            <a:rect r="r" b="b" t="t" l="l"/>
            <a:pathLst>
              <a:path h="5515618" w="7818531">
                <a:moveTo>
                  <a:pt x="0" y="0"/>
                </a:moveTo>
                <a:lnTo>
                  <a:pt x="7818531" y="0"/>
                </a:lnTo>
                <a:lnTo>
                  <a:pt x="7818531" y="5515618"/>
                </a:lnTo>
                <a:lnTo>
                  <a:pt x="0" y="55156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6316478"/>
            <a:ext cx="1856952" cy="2509395"/>
          </a:xfrm>
          <a:custGeom>
            <a:avLst/>
            <a:gdLst/>
            <a:ahLst/>
            <a:cxnLst/>
            <a:rect r="r" b="b" t="t" l="l"/>
            <a:pathLst>
              <a:path h="2509395" w="1856952">
                <a:moveTo>
                  <a:pt x="0" y="0"/>
                </a:moveTo>
                <a:lnTo>
                  <a:pt x="1856952" y="0"/>
                </a:lnTo>
                <a:lnTo>
                  <a:pt x="1856952" y="2509395"/>
                </a:lnTo>
                <a:lnTo>
                  <a:pt x="0" y="25093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55135" y="5059375"/>
            <a:ext cx="7792062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  <a:spcBef>
                <a:spcPct val="0"/>
              </a:spcBef>
            </a:pPr>
            <a:r>
              <a:rPr lang="en-US" sz="660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APK Shield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310681" y="847725"/>
            <a:ext cx="3040922" cy="3253905"/>
          </a:xfrm>
          <a:custGeom>
            <a:avLst/>
            <a:gdLst/>
            <a:ahLst/>
            <a:cxnLst/>
            <a:rect r="r" b="b" t="t" l="l"/>
            <a:pathLst>
              <a:path h="3253905" w="3040922">
                <a:moveTo>
                  <a:pt x="0" y="0"/>
                </a:moveTo>
                <a:lnTo>
                  <a:pt x="3040922" y="0"/>
                </a:lnTo>
                <a:lnTo>
                  <a:pt x="3040922" y="3253905"/>
                </a:lnTo>
                <a:lnTo>
                  <a:pt x="0" y="32539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704036" y="615739"/>
            <a:ext cx="3808732" cy="463973"/>
          </a:xfrm>
          <a:custGeom>
            <a:avLst/>
            <a:gdLst/>
            <a:ahLst/>
            <a:cxnLst/>
            <a:rect r="r" b="b" t="t" l="l"/>
            <a:pathLst>
              <a:path h="463973" w="3808732">
                <a:moveTo>
                  <a:pt x="0" y="0"/>
                </a:moveTo>
                <a:lnTo>
                  <a:pt x="3808732" y="0"/>
                </a:lnTo>
                <a:lnTo>
                  <a:pt x="3808732" y="463972"/>
                </a:lnTo>
                <a:lnTo>
                  <a:pt x="0" y="4639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9258300"/>
            <a:ext cx="3808732" cy="463973"/>
          </a:xfrm>
          <a:custGeom>
            <a:avLst/>
            <a:gdLst/>
            <a:ahLst/>
            <a:cxnLst/>
            <a:rect r="r" b="b" t="t" l="l"/>
            <a:pathLst>
              <a:path h="463973" w="3808732">
                <a:moveTo>
                  <a:pt x="0" y="0"/>
                </a:moveTo>
                <a:lnTo>
                  <a:pt x="3808732" y="0"/>
                </a:lnTo>
                <a:lnTo>
                  <a:pt x="3808732" y="463973"/>
                </a:lnTo>
                <a:lnTo>
                  <a:pt x="0" y="4639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33066" y="7444587"/>
            <a:ext cx="1363012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01"/>
              </a:lnSpc>
              <a:spcBef>
                <a:spcPct val="0"/>
              </a:spcBef>
            </a:pPr>
            <a:r>
              <a:rPr lang="en-US" sz="2834" strike="noStrike" u="none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PS 1: Generative AI-Based Automated Analysis and Risk Scoring of Fraudulent APKs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3010" y="467149"/>
            <a:ext cx="5105739" cy="9483613"/>
            <a:chOff x="0" y="0"/>
            <a:chExt cx="1344721" cy="24977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4721" cy="2497742"/>
            </a:xfrm>
            <a:custGeom>
              <a:avLst/>
              <a:gdLst/>
              <a:ahLst/>
              <a:cxnLst/>
              <a:rect r="r" b="b" t="t" l="l"/>
              <a:pathLst>
                <a:path h="2497742" w="1344721">
                  <a:moveTo>
                    <a:pt x="151632" y="0"/>
                  </a:moveTo>
                  <a:lnTo>
                    <a:pt x="1193090" y="0"/>
                  </a:lnTo>
                  <a:cubicBezTo>
                    <a:pt x="1233305" y="0"/>
                    <a:pt x="1271873" y="15975"/>
                    <a:pt x="1300309" y="44412"/>
                  </a:cubicBezTo>
                  <a:cubicBezTo>
                    <a:pt x="1328746" y="72848"/>
                    <a:pt x="1344721" y="111416"/>
                    <a:pt x="1344721" y="151632"/>
                  </a:cubicBezTo>
                  <a:lnTo>
                    <a:pt x="1344721" y="2346110"/>
                  </a:lnTo>
                  <a:cubicBezTo>
                    <a:pt x="1344721" y="2429854"/>
                    <a:pt x="1276834" y="2497742"/>
                    <a:pt x="1193090" y="2497742"/>
                  </a:cubicBezTo>
                  <a:lnTo>
                    <a:pt x="151632" y="2497742"/>
                  </a:lnTo>
                  <a:cubicBezTo>
                    <a:pt x="111416" y="2497742"/>
                    <a:pt x="72848" y="2481766"/>
                    <a:pt x="44412" y="2453330"/>
                  </a:cubicBezTo>
                  <a:cubicBezTo>
                    <a:pt x="15975" y="2424893"/>
                    <a:pt x="0" y="2386325"/>
                    <a:pt x="0" y="2346110"/>
                  </a:cubicBezTo>
                  <a:lnTo>
                    <a:pt x="0" y="151632"/>
                  </a:lnTo>
                  <a:cubicBezTo>
                    <a:pt x="0" y="111416"/>
                    <a:pt x="15975" y="72848"/>
                    <a:pt x="44412" y="44412"/>
                  </a:cubicBezTo>
                  <a:cubicBezTo>
                    <a:pt x="72848" y="15975"/>
                    <a:pt x="111416" y="0"/>
                    <a:pt x="151632" y="0"/>
                  </a:cubicBezTo>
                  <a:close/>
                </a:path>
              </a:pathLst>
            </a:custGeom>
            <a:solidFill>
              <a:srgbClr val="C4EBF5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44721" cy="2545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63035" y="766056"/>
            <a:ext cx="4145690" cy="1079146"/>
            <a:chOff x="0" y="0"/>
            <a:chExt cx="1091869" cy="2842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1869" cy="284220"/>
            </a:xfrm>
            <a:custGeom>
              <a:avLst/>
              <a:gdLst/>
              <a:ahLst/>
              <a:cxnLst/>
              <a:rect r="r" b="b" t="t" l="l"/>
              <a:pathLst>
                <a:path h="284220" w="1091869">
                  <a:moveTo>
                    <a:pt x="142110" y="0"/>
                  </a:moveTo>
                  <a:lnTo>
                    <a:pt x="949759" y="0"/>
                  </a:lnTo>
                  <a:cubicBezTo>
                    <a:pt x="1028244" y="0"/>
                    <a:pt x="1091869" y="63625"/>
                    <a:pt x="1091869" y="142110"/>
                  </a:cubicBezTo>
                  <a:lnTo>
                    <a:pt x="1091869" y="142110"/>
                  </a:lnTo>
                  <a:cubicBezTo>
                    <a:pt x="1091869" y="220595"/>
                    <a:pt x="1028244" y="284220"/>
                    <a:pt x="949759" y="284220"/>
                  </a:cubicBezTo>
                  <a:lnTo>
                    <a:pt x="142110" y="284220"/>
                  </a:lnTo>
                  <a:cubicBezTo>
                    <a:pt x="63625" y="284220"/>
                    <a:pt x="0" y="220595"/>
                    <a:pt x="0" y="142110"/>
                  </a:cubicBezTo>
                  <a:lnTo>
                    <a:pt x="0" y="142110"/>
                  </a:lnTo>
                  <a:cubicBezTo>
                    <a:pt x="0" y="63625"/>
                    <a:pt x="63625" y="0"/>
                    <a:pt x="142110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091869" cy="274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5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08272" y="401693"/>
            <a:ext cx="6605677" cy="9483613"/>
            <a:chOff x="0" y="0"/>
            <a:chExt cx="1739767" cy="24977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9767" cy="2497742"/>
            </a:xfrm>
            <a:custGeom>
              <a:avLst/>
              <a:gdLst/>
              <a:ahLst/>
              <a:cxnLst/>
              <a:rect r="r" b="b" t="t" l="l"/>
              <a:pathLst>
                <a:path h="2497742" w="1739767">
                  <a:moveTo>
                    <a:pt x="117201" y="0"/>
                  </a:moveTo>
                  <a:lnTo>
                    <a:pt x="1622566" y="0"/>
                  </a:lnTo>
                  <a:cubicBezTo>
                    <a:pt x="1687294" y="0"/>
                    <a:pt x="1739767" y="52473"/>
                    <a:pt x="1739767" y="117201"/>
                  </a:cubicBezTo>
                  <a:lnTo>
                    <a:pt x="1739767" y="2380541"/>
                  </a:lnTo>
                  <a:cubicBezTo>
                    <a:pt x="1739767" y="2445269"/>
                    <a:pt x="1687294" y="2497742"/>
                    <a:pt x="1622566" y="2497742"/>
                  </a:cubicBezTo>
                  <a:lnTo>
                    <a:pt x="117201" y="2497742"/>
                  </a:lnTo>
                  <a:cubicBezTo>
                    <a:pt x="52473" y="2497742"/>
                    <a:pt x="0" y="2445269"/>
                    <a:pt x="0" y="2380541"/>
                  </a:cubicBezTo>
                  <a:lnTo>
                    <a:pt x="0" y="117201"/>
                  </a:lnTo>
                  <a:cubicBezTo>
                    <a:pt x="0" y="52473"/>
                    <a:pt x="52473" y="0"/>
                    <a:pt x="117201" y="0"/>
                  </a:cubicBezTo>
                  <a:close/>
                </a:path>
              </a:pathLst>
            </a:custGeom>
            <a:solidFill>
              <a:srgbClr val="00BF63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739767" cy="2545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188296" y="766056"/>
            <a:ext cx="5684088" cy="1130911"/>
            <a:chOff x="0" y="0"/>
            <a:chExt cx="1497044" cy="2978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97044" cy="297853"/>
            </a:xfrm>
            <a:custGeom>
              <a:avLst/>
              <a:gdLst/>
              <a:ahLst/>
              <a:cxnLst/>
              <a:rect r="r" b="b" t="t" l="l"/>
              <a:pathLst>
                <a:path h="297853" w="1497044">
                  <a:moveTo>
                    <a:pt x="136203" y="0"/>
                  </a:moveTo>
                  <a:lnTo>
                    <a:pt x="1360840" y="0"/>
                  </a:lnTo>
                  <a:cubicBezTo>
                    <a:pt x="1396964" y="0"/>
                    <a:pt x="1431608" y="14350"/>
                    <a:pt x="1457151" y="39893"/>
                  </a:cubicBezTo>
                  <a:cubicBezTo>
                    <a:pt x="1482694" y="65436"/>
                    <a:pt x="1497044" y="100080"/>
                    <a:pt x="1497044" y="136203"/>
                  </a:cubicBezTo>
                  <a:lnTo>
                    <a:pt x="1497044" y="161650"/>
                  </a:lnTo>
                  <a:cubicBezTo>
                    <a:pt x="1497044" y="236873"/>
                    <a:pt x="1436063" y="297853"/>
                    <a:pt x="1360840" y="297853"/>
                  </a:cubicBezTo>
                  <a:lnTo>
                    <a:pt x="136203" y="297853"/>
                  </a:lnTo>
                  <a:cubicBezTo>
                    <a:pt x="100080" y="297853"/>
                    <a:pt x="65436" y="283503"/>
                    <a:pt x="39893" y="257960"/>
                  </a:cubicBezTo>
                  <a:cubicBezTo>
                    <a:pt x="14350" y="232417"/>
                    <a:pt x="0" y="197773"/>
                    <a:pt x="0" y="161650"/>
                  </a:cubicBezTo>
                  <a:lnTo>
                    <a:pt x="0" y="136203"/>
                  </a:lnTo>
                  <a:cubicBezTo>
                    <a:pt x="0" y="60980"/>
                    <a:pt x="60980" y="0"/>
                    <a:pt x="136203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497044" cy="288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806"/>
                </a:lnSpc>
                <a:spcBef>
                  <a:spcPct val="0"/>
                </a:spcBef>
              </a:pPr>
              <a:r>
                <a:rPr lang="en-US" sz="4005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Proposed solution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968622" y="1995841"/>
            <a:ext cx="6084528" cy="1142163"/>
            <a:chOff x="0" y="0"/>
            <a:chExt cx="1602510" cy="3008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02510" cy="300817"/>
            </a:xfrm>
            <a:custGeom>
              <a:avLst/>
              <a:gdLst/>
              <a:ahLst/>
              <a:cxnLst/>
              <a:rect r="r" b="b" t="t" l="l"/>
              <a:pathLst>
                <a:path h="300817" w="1602510">
                  <a:moveTo>
                    <a:pt x="52168" y="0"/>
                  </a:moveTo>
                  <a:lnTo>
                    <a:pt x="1550341" y="0"/>
                  </a:lnTo>
                  <a:cubicBezTo>
                    <a:pt x="1579153" y="0"/>
                    <a:pt x="1602510" y="23356"/>
                    <a:pt x="1602510" y="52168"/>
                  </a:cubicBezTo>
                  <a:lnTo>
                    <a:pt x="1602510" y="248649"/>
                  </a:lnTo>
                  <a:cubicBezTo>
                    <a:pt x="1602510" y="277460"/>
                    <a:pt x="1579153" y="300817"/>
                    <a:pt x="1550341" y="300817"/>
                  </a:cubicBezTo>
                  <a:lnTo>
                    <a:pt x="52168" y="300817"/>
                  </a:lnTo>
                  <a:cubicBezTo>
                    <a:pt x="23356" y="300817"/>
                    <a:pt x="0" y="277460"/>
                    <a:pt x="0" y="248649"/>
                  </a:cubicBezTo>
                  <a:lnTo>
                    <a:pt x="0" y="52168"/>
                  </a:lnTo>
                  <a:cubicBezTo>
                    <a:pt x="0" y="23356"/>
                    <a:pt x="23356" y="0"/>
                    <a:pt x="5216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02510" cy="3389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Automated APK Investigation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Uploads suspicious APK files and automatically performs static, dynamic, and AI-driven malware analysis.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63035" y="1913278"/>
            <a:ext cx="4145690" cy="488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📱 </a:t>
            </a:r>
            <a:r>
              <a:rPr lang="en-US" sz="18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Fraudulent APKs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Are a Growing Threat</a:t>
            </a:r>
          </a:p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Malici</a:t>
            </a:r>
            <a:r>
              <a:rPr lang="en-US" sz="1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ous Android applications are increasingly distributed through WhatsApp, SMS, email, Telegram, and phishing websites to steal banking credentials, OTPs, personal data, and financial information.</a:t>
            </a:r>
          </a:p>
          <a:p>
            <a:pPr algn="ctr">
              <a:lnSpc>
                <a:spcPts val="2521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🏦</a:t>
            </a:r>
            <a:r>
              <a:rPr lang="en-US" b="true" sz="18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Banks Face Rising Fraud Risks</a:t>
            </a:r>
          </a:p>
          <a:p>
            <a:pPr algn="ctr">
              <a:lnSpc>
                <a:spcPts val="2241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Detecting malicious APKs requires specialized cybersecurity expertise, reverse engineering skills, and significant investigation time, making large-scale analysis difficult.</a:t>
            </a:r>
          </a:p>
          <a:p>
            <a:pPr algn="ctr">
              <a:lnSpc>
                <a:spcPts val="2521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⚠️ </a:t>
            </a:r>
            <a:r>
              <a:rPr lang="en-US" b="true" sz="18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Current Analysis Methods Are Slow &amp; Expensive</a:t>
            </a:r>
          </a:p>
          <a:p>
            <a:pPr algn="ctr">
              <a:lnSpc>
                <a:spcPts val="2241"/>
              </a:lnSpc>
              <a:spcBef>
                <a:spcPct val="0"/>
              </a:spcBef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5968622" y="3247555"/>
            <a:ext cx="6084528" cy="1165714"/>
            <a:chOff x="0" y="0"/>
            <a:chExt cx="1602510" cy="3070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02510" cy="307019"/>
            </a:xfrm>
            <a:custGeom>
              <a:avLst/>
              <a:gdLst/>
              <a:ahLst/>
              <a:cxnLst/>
              <a:rect r="r" b="b" t="t" l="l"/>
              <a:pathLst>
                <a:path h="307019" w="1602510">
                  <a:moveTo>
                    <a:pt x="52168" y="0"/>
                  </a:moveTo>
                  <a:lnTo>
                    <a:pt x="1550341" y="0"/>
                  </a:lnTo>
                  <a:cubicBezTo>
                    <a:pt x="1579153" y="0"/>
                    <a:pt x="1602510" y="23356"/>
                    <a:pt x="1602510" y="52168"/>
                  </a:cubicBezTo>
                  <a:lnTo>
                    <a:pt x="1602510" y="254851"/>
                  </a:lnTo>
                  <a:cubicBezTo>
                    <a:pt x="1602510" y="283663"/>
                    <a:pt x="1579153" y="307019"/>
                    <a:pt x="1550341" y="307019"/>
                  </a:cubicBezTo>
                  <a:lnTo>
                    <a:pt x="52168" y="307019"/>
                  </a:lnTo>
                  <a:cubicBezTo>
                    <a:pt x="23356" y="307019"/>
                    <a:pt x="0" y="283663"/>
                    <a:pt x="0" y="254851"/>
                  </a:cubicBezTo>
                  <a:lnTo>
                    <a:pt x="0" y="52168"/>
                  </a:lnTo>
                  <a:cubicBezTo>
                    <a:pt x="0" y="23356"/>
                    <a:pt x="23356" y="0"/>
                    <a:pt x="5216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602510" cy="335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40"/>
                </a:lnSpc>
                <a:spcBef>
                  <a:spcPct val="0"/>
                </a:spcBef>
              </a:pPr>
              <a:r>
                <a:rPr lang="en-US" b="true" sz="1600" strike="noStrike" u="non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Multi-Layer Threat Detection</a:t>
              </a:r>
            </a:p>
            <a:p>
              <a:pPr algn="ctr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500" strike="noStrike" u="none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Uses APK decompilation, permission analysis, API inspection, YARA signatures, VirusTotal intelligence, and runtime monitoring to uncover malicious behavior</a:t>
              </a:r>
              <a:r>
                <a:rPr lang="en-US" b="true" sz="1500" strike="noStrike" u="non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968622" y="4498857"/>
            <a:ext cx="6084528" cy="1165714"/>
            <a:chOff x="0" y="0"/>
            <a:chExt cx="1602510" cy="3070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02510" cy="307019"/>
            </a:xfrm>
            <a:custGeom>
              <a:avLst/>
              <a:gdLst/>
              <a:ahLst/>
              <a:cxnLst/>
              <a:rect r="r" b="b" t="t" l="l"/>
              <a:pathLst>
                <a:path h="307019" w="1602510">
                  <a:moveTo>
                    <a:pt x="52168" y="0"/>
                  </a:moveTo>
                  <a:lnTo>
                    <a:pt x="1550341" y="0"/>
                  </a:lnTo>
                  <a:cubicBezTo>
                    <a:pt x="1579153" y="0"/>
                    <a:pt x="1602510" y="23356"/>
                    <a:pt x="1602510" y="52168"/>
                  </a:cubicBezTo>
                  <a:lnTo>
                    <a:pt x="1602510" y="254851"/>
                  </a:lnTo>
                  <a:cubicBezTo>
                    <a:pt x="1602510" y="283663"/>
                    <a:pt x="1579153" y="307019"/>
                    <a:pt x="1550341" y="307019"/>
                  </a:cubicBezTo>
                  <a:lnTo>
                    <a:pt x="52168" y="307019"/>
                  </a:lnTo>
                  <a:cubicBezTo>
                    <a:pt x="23356" y="307019"/>
                    <a:pt x="0" y="283663"/>
                    <a:pt x="0" y="254851"/>
                  </a:cubicBezTo>
                  <a:lnTo>
                    <a:pt x="0" y="52168"/>
                  </a:lnTo>
                  <a:cubicBezTo>
                    <a:pt x="0" y="23356"/>
                    <a:pt x="23356" y="0"/>
                    <a:pt x="5216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602510" cy="345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Generative AI Malware Analyst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AI agents act as Code Analysts, Threat Correlators, Malware Classifiers, and Investigation Writers to interpret findings and explain risks in plain English.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968622" y="5750158"/>
            <a:ext cx="6084528" cy="1142163"/>
            <a:chOff x="0" y="0"/>
            <a:chExt cx="1602510" cy="3008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02510" cy="300817"/>
            </a:xfrm>
            <a:custGeom>
              <a:avLst/>
              <a:gdLst/>
              <a:ahLst/>
              <a:cxnLst/>
              <a:rect r="r" b="b" t="t" l="l"/>
              <a:pathLst>
                <a:path h="300817" w="1602510">
                  <a:moveTo>
                    <a:pt x="52168" y="0"/>
                  </a:moveTo>
                  <a:lnTo>
                    <a:pt x="1550341" y="0"/>
                  </a:lnTo>
                  <a:cubicBezTo>
                    <a:pt x="1579153" y="0"/>
                    <a:pt x="1602510" y="23356"/>
                    <a:pt x="1602510" y="52168"/>
                  </a:cubicBezTo>
                  <a:lnTo>
                    <a:pt x="1602510" y="248649"/>
                  </a:lnTo>
                  <a:cubicBezTo>
                    <a:pt x="1602510" y="277460"/>
                    <a:pt x="1579153" y="300817"/>
                    <a:pt x="1550341" y="300817"/>
                  </a:cubicBezTo>
                  <a:lnTo>
                    <a:pt x="52168" y="300817"/>
                  </a:lnTo>
                  <a:cubicBezTo>
                    <a:pt x="23356" y="300817"/>
                    <a:pt x="0" y="277460"/>
                    <a:pt x="0" y="248649"/>
                  </a:cubicBezTo>
                  <a:lnTo>
                    <a:pt x="0" y="52168"/>
                  </a:lnTo>
                  <a:cubicBezTo>
                    <a:pt x="0" y="23356"/>
                    <a:pt x="23356" y="0"/>
                    <a:pt x="5216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602510" cy="3389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Intelligent Risk Scoring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Generates a 0–100 risk score, malware classification, threat severity level, and confidence score for rapid decision-making.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988076" y="7001460"/>
            <a:ext cx="6084528" cy="1165714"/>
            <a:chOff x="0" y="0"/>
            <a:chExt cx="1602510" cy="3070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02510" cy="307019"/>
            </a:xfrm>
            <a:custGeom>
              <a:avLst/>
              <a:gdLst/>
              <a:ahLst/>
              <a:cxnLst/>
              <a:rect r="r" b="b" t="t" l="l"/>
              <a:pathLst>
                <a:path h="307019" w="1602510">
                  <a:moveTo>
                    <a:pt x="52168" y="0"/>
                  </a:moveTo>
                  <a:lnTo>
                    <a:pt x="1550341" y="0"/>
                  </a:lnTo>
                  <a:cubicBezTo>
                    <a:pt x="1579153" y="0"/>
                    <a:pt x="1602510" y="23356"/>
                    <a:pt x="1602510" y="52168"/>
                  </a:cubicBezTo>
                  <a:lnTo>
                    <a:pt x="1602510" y="254851"/>
                  </a:lnTo>
                  <a:cubicBezTo>
                    <a:pt x="1602510" y="283663"/>
                    <a:pt x="1579153" y="307019"/>
                    <a:pt x="1550341" y="307019"/>
                  </a:cubicBezTo>
                  <a:lnTo>
                    <a:pt x="52168" y="307019"/>
                  </a:lnTo>
                  <a:cubicBezTo>
                    <a:pt x="23356" y="307019"/>
                    <a:pt x="0" y="283663"/>
                    <a:pt x="0" y="254851"/>
                  </a:cubicBezTo>
                  <a:lnTo>
                    <a:pt x="0" y="52168"/>
                  </a:lnTo>
                  <a:cubicBezTo>
                    <a:pt x="0" y="23356"/>
                    <a:pt x="23356" y="0"/>
                    <a:pt x="5216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602510" cy="345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Investigation Reports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Produces detailed PDF/JSON reports containing attack indicators, MITRE ATT&amp;CK mappings, suspicious permissions, network activity, and remediation guidance.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968622" y="8257923"/>
            <a:ext cx="6084528" cy="1165714"/>
            <a:chOff x="0" y="0"/>
            <a:chExt cx="1602510" cy="3070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02510" cy="307019"/>
            </a:xfrm>
            <a:custGeom>
              <a:avLst/>
              <a:gdLst/>
              <a:ahLst/>
              <a:cxnLst/>
              <a:rect r="r" b="b" t="t" l="l"/>
              <a:pathLst>
                <a:path h="307019" w="1602510">
                  <a:moveTo>
                    <a:pt x="52168" y="0"/>
                  </a:moveTo>
                  <a:lnTo>
                    <a:pt x="1550341" y="0"/>
                  </a:lnTo>
                  <a:cubicBezTo>
                    <a:pt x="1579153" y="0"/>
                    <a:pt x="1602510" y="23356"/>
                    <a:pt x="1602510" y="52168"/>
                  </a:cubicBezTo>
                  <a:lnTo>
                    <a:pt x="1602510" y="254851"/>
                  </a:lnTo>
                  <a:cubicBezTo>
                    <a:pt x="1602510" y="283663"/>
                    <a:pt x="1579153" y="307019"/>
                    <a:pt x="1550341" y="307019"/>
                  </a:cubicBezTo>
                  <a:lnTo>
                    <a:pt x="52168" y="307019"/>
                  </a:lnTo>
                  <a:cubicBezTo>
                    <a:pt x="23356" y="307019"/>
                    <a:pt x="0" y="283663"/>
                    <a:pt x="0" y="254851"/>
                  </a:cubicBezTo>
                  <a:lnTo>
                    <a:pt x="0" y="52168"/>
                  </a:lnTo>
                  <a:cubicBezTo>
                    <a:pt x="0" y="23356"/>
                    <a:pt x="23356" y="0"/>
                    <a:pt x="52168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602510" cy="345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  <a:r>
                <a:rPr lang="en-US" sz="15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Built For Security Teams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Designed for banks, cybersecurity teams, fraud investigators, CERT teams, and enterprise security operations centers (SOCs).</a:t>
              </a:r>
            </a:p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2790198" y="3690014"/>
            <a:ext cx="7278151" cy="5703424"/>
          </a:xfrm>
          <a:custGeom>
            <a:avLst/>
            <a:gdLst/>
            <a:ahLst/>
            <a:cxnLst/>
            <a:rect r="r" b="b" t="t" l="l"/>
            <a:pathLst>
              <a:path h="5703424" w="7278151">
                <a:moveTo>
                  <a:pt x="0" y="0"/>
                </a:moveTo>
                <a:lnTo>
                  <a:pt x="7278152" y="0"/>
                </a:lnTo>
                <a:lnTo>
                  <a:pt x="7278152" y="5703424"/>
                </a:lnTo>
                <a:lnTo>
                  <a:pt x="0" y="57034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3009273" y="2624072"/>
            <a:ext cx="5764502" cy="885684"/>
            <a:chOff x="0" y="0"/>
            <a:chExt cx="1518223" cy="23326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18223" cy="233267"/>
            </a:xfrm>
            <a:custGeom>
              <a:avLst/>
              <a:gdLst/>
              <a:ahLst/>
              <a:cxnLst/>
              <a:rect r="r" b="b" t="t" l="l"/>
              <a:pathLst>
                <a:path h="233267" w="1518223">
                  <a:moveTo>
                    <a:pt x="116633" y="0"/>
                  </a:moveTo>
                  <a:lnTo>
                    <a:pt x="1401589" y="0"/>
                  </a:lnTo>
                  <a:cubicBezTo>
                    <a:pt x="1432522" y="0"/>
                    <a:pt x="1462189" y="12288"/>
                    <a:pt x="1484062" y="34161"/>
                  </a:cubicBezTo>
                  <a:cubicBezTo>
                    <a:pt x="1505935" y="56034"/>
                    <a:pt x="1518223" y="85700"/>
                    <a:pt x="1518223" y="116633"/>
                  </a:cubicBezTo>
                  <a:lnTo>
                    <a:pt x="1518223" y="116633"/>
                  </a:lnTo>
                  <a:cubicBezTo>
                    <a:pt x="1518223" y="147566"/>
                    <a:pt x="1505935" y="177233"/>
                    <a:pt x="1484062" y="199106"/>
                  </a:cubicBezTo>
                  <a:cubicBezTo>
                    <a:pt x="1462189" y="220979"/>
                    <a:pt x="1432522" y="233267"/>
                    <a:pt x="1401589" y="233267"/>
                  </a:cubicBezTo>
                  <a:lnTo>
                    <a:pt x="116633" y="233267"/>
                  </a:lnTo>
                  <a:cubicBezTo>
                    <a:pt x="85700" y="233267"/>
                    <a:pt x="56034" y="220979"/>
                    <a:pt x="34161" y="199106"/>
                  </a:cubicBezTo>
                  <a:cubicBezTo>
                    <a:pt x="12288" y="177233"/>
                    <a:pt x="0" y="147566"/>
                    <a:pt x="0" y="116633"/>
                  </a:cubicBezTo>
                  <a:lnTo>
                    <a:pt x="0" y="116633"/>
                  </a:lnTo>
                  <a:cubicBezTo>
                    <a:pt x="0" y="85700"/>
                    <a:pt x="12288" y="56034"/>
                    <a:pt x="34161" y="34161"/>
                  </a:cubicBezTo>
                  <a:cubicBezTo>
                    <a:pt x="56034" y="12288"/>
                    <a:pt x="85700" y="0"/>
                    <a:pt x="116633" y="0"/>
                  </a:cubicBezTo>
                  <a:close/>
                </a:path>
              </a:pathLst>
            </a:custGeom>
            <a:solidFill>
              <a:srgbClr val="FF3131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1518223" cy="299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66141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DETECT , ANALYSE , PREVENT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65345" y="6606540"/>
            <a:ext cx="3741070" cy="2721190"/>
            <a:chOff x="0" y="0"/>
            <a:chExt cx="1061456" cy="77208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1456" cy="772085"/>
            </a:xfrm>
            <a:custGeom>
              <a:avLst/>
              <a:gdLst/>
              <a:ahLst/>
              <a:cxnLst/>
              <a:rect r="r" b="b" t="t" l="l"/>
              <a:pathLst>
                <a:path h="772085" w="1061456">
                  <a:moveTo>
                    <a:pt x="47597" y="0"/>
                  </a:moveTo>
                  <a:lnTo>
                    <a:pt x="1013859" y="0"/>
                  </a:lnTo>
                  <a:cubicBezTo>
                    <a:pt x="1040146" y="0"/>
                    <a:pt x="1061456" y="21310"/>
                    <a:pt x="1061456" y="47597"/>
                  </a:cubicBezTo>
                  <a:lnTo>
                    <a:pt x="1061456" y="724488"/>
                  </a:lnTo>
                  <a:cubicBezTo>
                    <a:pt x="1061456" y="737111"/>
                    <a:pt x="1056441" y="749218"/>
                    <a:pt x="1047515" y="758144"/>
                  </a:cubicBezTo>
                  <a:cubicBezTo>
                    <a:pt x="1038589" y="767070"/>
                    <a:pt x="1026482" y="772085"/>
                    <a:pt x="1013859" y="772085"/>
                  </a:cubicBezTo>
                  <a:lnTo>
                    <a:pt x="47597" y="772085"/>
                  </a:lnTo>
                  <a:cubicBezTo>
                    <a:pt x="21310" y="772085"/>
                    <a:pt x="0" y="750775"/>
                    <a:pt x="0" y="724488"/>
                  </a:cubicBezTo>
                  <a:lnTo>
                    <a:pt x="0" y="47597"/>
                  </a:lnTo>
                  <a:cubicBezTo>
                    <a:pt x="0" y="34974"/>
                    <a:pt x="5015" y="22867"/>
                    <a:pt x="13941" y="13941"/>
                  </a:cubicBezTo>
                  <a:cubicBezTo>
                    <a:pt x="22867" y="5015"/>
                    <a:pt x="34974" y="0"/>
                    <a:pt x="47597" y="0"/>
                  </a:cubicBezTo>
                  <a:close/>
                </a:path>
              </a:pathLst>
            </a:custGeom>
            <a:blipFill>
              <a:blip r:embed="rId4"/>
              <a:stretch>
                <a:fillRect l="-7974" t="-20516" r="-8261" b="-16112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3456396" y="1896967"/>
            <a:ext cx="499352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  <a:spcBef>
                <a:spcPct val="0"/>
              </a:spcBef>
            </a:pPr>
            <a:r>
              <a:rPr lang="en-US" sz="660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APK Shield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60200" y="1066800"/>
            <a:ext cx="255136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6"/>
              </a:lnSpc>
              <a:spcBef>
                <a:spcPct val="0"/>
              </a:spcBef>
            </a:pPr>
            <a:r>
              <a:rPr lang="en-US" b="true" sz="4005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748648">
            <a:off x="-4710219" y="-3966823"/>
            <a:ext cx="13730710" cy="14361545"/>
          </a:xfrm>
          <a:custGeom>
            <a:avLst/>
            <a:gdLst/>
            <a:ahLst/>
            <a:cxnLst/>
            <a:rect r="r" b="b" t="t" l="l"/>
            <a:pathLst>
              <a:path h="14361545" w="13730710">
                <a:moveTo>
                  <a:pt x="13730709" y="14361545"/>
                </a:moveTo>
                <a:lnTo>
                  <a:pt x="0" y="14361545"/>
                </a:lnTo>
                <a:lnTo>
                  <a:pt x="0" y="0"/>
                </a:lnTo>
                <a:lnTo>
                  <a:pt x="13730709" y="0"/>
                </a:lnTo>
                <a:lnTo>
                  <a:pt x="13730709" y="1436154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02519" y="1500939"/>
            <a:ext cx="12878817" cy="13470514"/>
          </a:xfrm>
          <a:custGeom>
            <a:avLst/>
            <a:gdLst/>
            <a:ahLst/>
            <a:cxnLst/>
            <a:rect r="r" b="b" t="t" l="l"/>
            <a:pathLst>
              <a:path h="13470514" w="12878817">
                <a:moveTo>
                  <a:pt x="0" y="0"/>
                </a:moveTo>
                <a:lnTo>
                  <a:pt x="12878817" y="0"/>
                </a:lnTo>
                <a:lnTo>
                  <a:pt x="12878817" y="13470514"/>
                </a:lnTo>
                <a:lnTo>
                  <a:pt x="0" y="13470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76123" y="1187414"/>
            <a:ext cx="7058049" cy="3735644"/>
            <a:chOff x="0" y="0"/>
            <a:chExt cx="1858910" cy="9838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58910" cy="983873"/>
            </a:xfrm>
            <a:custGeom>
              <a:avLst/>
              <a:gdLst/>
              <a:ahLst/>
              <a:cxnLst/>
              <a:rect r="r" b="b" t="t" l="l"/>
              <a:pathLst>
                <a:path h="983873" w="1858910">
                  <a:moveTo>
                    <a:pt x="109689" y="0"/>
                  </a:moveTo>
                  <a:lnTo>
                    <a:pt x="1749221" y="0"/>
                  </a:lnTo>
                  <a:cubicBezTo>
                    <a:pt x="1778312" y="0"/>
                    <a:pt x="1806212" y="11557"/>
                    <a:pt x="1826783" y="32127"/>
                  </a:cubicBezTo>
                  <a:cubicBezTo>
                    <a:pt x="1847354" y="52698"/>
                    <a:pt x="1858910" y="80598"/>
                    <a:pt x="1858910" y="109689"/>
                  </a:cubicBezTo>
                  <a:lnTo>
                    <a:pt x="1858910" y="874184"/>
                  </a:lnTo>
                  <a:cubicBezTo>
                    <a:pt x="1858910" y="934764"/>
                    <a:pt x="1809800" y="983873"/>
                    <a:pt x="1749221" y="983873"/>
                  </a:cubicBezTo>
                  <a:lnTo>
                    <a:pt x="109689" y="983873"/>
                  </a:lnTo>
                  <a:cubicBezTo>
                    <a:pt x="80598" y="983873"/>
                    <a:pt x="52698" y="972317"/>
                    <a:pt x="32127" y="951746"/>
                  </a:cubicBezTo>
                  <a:cubicBezTo>
                    <a:pt x="11557" y="931175"/>
                    <a:pt x="0" y="903275"/>
                    <a:pt x="0" y="874184"/>
                  </a:cubicBezTo>
                  <a:lnTo>
                    <a:pt x="0" y="109689"/>
                  </a:lnTo>
                  <a:cubicBezTo>
                    <a:pt x="0" y="80598"/>
                    <a:pt x="11557" y="52698"/>
                    <a:pt x="32127" y="32127"/>
                  </a:cubicBezTo>
                  <a:cubicBezTo>
                    <a:pt x="52698" y="11557"/>
                    <a:pt x="80598" y="0"/>
                    <a:pt x="109689" y="0"/>
                  </a:cubicBezTo>
                  <a:close/>
                </a:path>
              </a:pathLst>
            </a:custGeom>
            <a:solidFill>
              <a:srgbClr val="C4EBF5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858910" cy="1031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76123" y="5363942"/>
            <a:ext cx="9391167" cy="3735644"/>
            <a:chOff x="0" y="0"/>
            <a:chExt cx="2473394" cy="9838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73394" cy="983873"/>
            </a:xfrm>
            <a:custGeom>
              <a:avLst/>
              <a:gdLst/>
              <a:ahLst/>
              <a:cxnLst/>
              <a:rect r="r" b="b" t="t" l="l"/>
              <a:pathLst>
                <a:path h="983873" w="2473394">
                  <a:moveTo>
                    <a:pt x="82438" y="0"/>
                  </a:moveTo>
                  <a:lnTo>
                    <a:pt x="2390955" y="0"/>
                  </a:lnTo>
                  <a:cubicBezTo>
                    <a:pt x="2412819" y="0"/>
                    <a:pt x="2433788" y="8685"/>
                    <a:pt x="2449248" y="24146"/>
                  </a:cubicBezTo>
                  <a:cubicBezTo>
                    <a:pt x="2464708" y="39606"/>
                    <a:pt x="2473394" y="60574"/>
                    <a:pt x="2473394" y="82438"/>
                  </a:cubicBezTo>
                  <a:lnTo>
                    <a:pt x="2473394" y="901435"/>
                  </a:lnTo>
                  <a:cubicBezTo>
                    <a:pt x="2473394" y="946964"/>
                    <a:pt x="2436485" y="983873"/>
                    <a:pt x="2390955" y="983873"/>
                  </a:cubicBezTo>
                  <a:lnTo>
                    <a:pt x="82438" y="983873"/>
                  </a:lnTo>
                  <a:cubicBezTo>
                    <a:pt x="60574" y="983873"/>
                    <a:pt x="39606" y="975188"/>
                    <a:pt x="24146" y="959728"/>
                  </a:cubicBezTo>
                  <a:cubicBezTo>
                    <a:pt x="8685" y="944267"/>
                    <a:pt x="0" y="923299"/>
                    <a:pt x="0" y="901435"/>
                  </a:cubicBezTo>
                  <a:lnTo>
                    <a:pt x="0" y="82438"/>
                  </a:lnTo>
                  <a:cubicBezTo>
                    <a:pt x="0" y="60574"/>
                    <a:pt x="8685" y="39606"/>
                    <a:pt x="24146" y="24146"/>
                  </a:cubicBezTo>
                  <a:cubicBezTo>
                    <a:pt x="39606" y="8685"/>
                    <a:pt x="60574" y="0"/>
                    <a:pt x="82438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473394" cy="1031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523534" y="1187414"/>
            <a:ext cx="2702646" cy="4587825"/>
          </a:xfrm>
          <a:custGeom>
            <a:avLst/>
            <a:gdLst/>
            <a:ahLst/>
            <a:cxnLst/>
            <a:rect r="r" b="b" t="t" l="l"/>
            <a:pathLst>
              <a:path h="4587825" w="2702646">
                <a:moveTo>
                  <a:pt x="0" y="0"/>
                </a:moveTo>
                <a:lnTo>
                  <a:pt x="2702646" y="0"/>
                </a:lnTo>
                <a:lnTo>
                  <a:pt x="2702646" y="4587825"/>
                </a:lnTo>
                <a:lnTo>
                  <a:pt x="0" y="45878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828714" y="3213949"/>
            <a:ext cx="8950182" cy="7013688"/>
          </a:xfrm>
          <a:custGeom>
            <a:avLst/>
            <a:gdLst/>
            <a:ahLst/>
            <a:cxnLst/>
            <a:rect r="r" b="b" t="t" l="l"/>
            <a:pathLst>
              <a:path h="7013688" w="8950182">
                <a:moveTo>
                  <a:pt x="0" y="0"/>
                </a:moveTo>
                <a:lnTo>
                  <a:pt x="8950182" y="0"/>
                </a:lnTo>
                <a:lnTo>
                  <a:pt x="8950182" y="7013689"/>
                </a:lnTo>
                <a:lnTo>
                  <a:pt x="0" y="70136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12260" y="2170827"/>
            <a:ext cx="6582661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6"/>
              </a:lnSpc>
              <a:spcBef>
                <a:spcPct val="0"/>
              </a:spcBef>
            </a:pPr>
            <a:r>
              <a:rPr lang="en-US" sz="660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are we building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17035" y="5860964"/>
            <a:ext cx="7249550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1"/>
              </a:lnSpc>
            </a:pPr>
            <a:r>
              <a:rPr lang="en-US" sz="303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We a</a:t>
            </a:r>
            <a:r>
              <a:rPr lang="en-US" sz="303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 building an automated system for banks, cybersecurity teams, and fraud investigators, and end users. Users can submit a suspicious Android application (APK file) and receive a full investigation report </a:t>
            </a:r>
          </a:p>
          <a:p>
            <a:pPr algn="l">
              <a:lnSpc>
                <a:spcPts val="3641"/>
              </a:lnSpc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797067" y="564727"/>
            <a:ext cx="3808732" cy="463973"/>
          </a:xfrm>
          <a:custGeom>
            <a:avLst/>
            <a:gdLst/>
            <a:ahLst/>
            <a:cxnLst/>
            <a:rect r="r" b="b" t="t" l="l"/>
            <a:pathLst>
              <a:path h="463973" w="3808732">
                <a:moveTo>
                  <a:pt x="0" y="0"/>
                </a:moveTo>
                <a:lnTo>
                  <a:pt x="3808732" y="0"/>
                </a:lnTo>
                <a:lnTo>
                  <a:pt x="3808732" y="463973"/>
                </a:lnTo>
                <a:lnTo>
                  <a:pt x="0" y="4639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2343826" y="3250860"/>
            <a:ext cx="6044719" cy="5258309"/>
            <a:chOff x="0" y="0"/>
            <a:chExt cx="8059626" cy="70110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533202"/>
              <a:ext cx="8059626" cy="6477876"/>
            </a:xfrm>
            <a:custGeom>
              <a:avLst/>
              <a:gdLst/>
              <a:ahLst/>
              <a:cxnLst/>
              <a:rect r="r" b="b" t="t" l="l"/>
              <a:pathLst>
                <a:path h="6477876" w="8059626">
                  <a:moveTo>
                    <a:pt x="0" y="0"/>
                  </a:moveTo>
                  <a:lnTo>
                    <a:pt x="8059626" y="0"/>
                  </a:lnTo>
                  <a:lnTo>
                    <a:pt x="8059626" y="6477876"/>
                  </a:lnTo>
                  <a:lnTo>
                    <a:pt x="0" y="6477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7" id="17"/>
            <p:cNvGrpSpPr/>
            <p:nvPr/>
          </p:nvGrpSpPr>
          <p:grpSpPr>
            <a:xfrm rot="0">
              <a:off x="4975258" y="2350210"/>
              <a:ext cx="397302" cy="291517"/>
              <a:chOff x="0" y="0"/>
              <a:chExt cx="260248" cy="19095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60221" cy="191006"/>
              </a:xfrm>
              <a:custGeom>
                <a:avLst/>
                <a:gdLst/>
                <a:ahLst/>
                <a:cxnLst/>
                <a:rect r="r" b="b" t="t" l="l"/>
                <a:pathLst>
                  <a:path h="191006" w="260221">
                    <a:moveTo>
                      <a:pt x="0" y="191006"/>
                    </a:moveTo>
                    <a:lnTo>
                      <a:pt x="260221" y="191006"/>
                    </a:lnTo>
                    <a:lnTo>
                      <a:pt x="2602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5033320" y="3252461"/>
              <a:ext cx="281193" cy="279433"/>
              <a:chOff x="0" y="0"/>
              <a:chExt cx="184188" cy="18304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84146" cy="183011"/>
              </a:xfrm>
              <a:custGeom>
                <a:avLst/>
                <a:gdLst/>
                <a:ahLst/>
                <a:cxnLst/>
                <a:rect r="r" b="b" t="t" l="l"/>
                <a:pathLst>
                  <a:path h="183011" w="184146">
                    <a:moveTo>
                      <a:pt x="0" y="183011"/>
                    </a:moveTo>
                    <a:lnTo>
                      <a:pt x="184146" y="183011"/>
                    </a:lnTo>
                    <a:lnTo>
                      <a:pt x="184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5033320" y="5076696"/>
              <a:ext cx="281193" cy="279433"/>
              <a:chOff x="0" y="0"/>
              <a:chExt cx="184188" cy="18304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84146" cy="183011"/>
              </a:xfrm>
              <a:custGeom>
                <a:avLst/>
                <a:gdLst/>
                <a:ahLst/>
                <a:cxnLst/>
                <a:rect r="r" b="b" t="t" l="l"/>
                <a:pathLst>
                  <a:path h="183011" w="184146">
                    <a:moveTo>
                      <a:pt x="0" y="183011"/>
                    </a:moveTo>
                    <a:lnTo>
                      <a:pt x="184146" y="183011"/>
                    </a:lnTo>
                    <a:lnTo>
                      <a:pt x="1841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4853841" y="5875343"/>
              <a:ext cx="557602" cy="548354"/>
              <a:chOff x="0" y="0"/>
              <a:chExt cx="365252" cy="35920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117600" y="63501"/>
                <a:ext cx="184147" cy="183010"/>
              </a:xfrm>
              <a:custGeom>
                <a:avLst/>
                <a:gdLst/>
                <a:ahLst/>
                <a:cxnLst/>
                <a:rect r="r" b="b" t="t" l="l"/>
                <a:pathLst>
                  <a:path h="183010" w="184147">
                    <a:moveTo>
                      <a:pt x="0" y="183010"/>
                    </a:moveTo>
                    <a:lnTo>
                      <a:pt x="184147" y="183010"/>
                    </a:lnTo>
                    <a:lnTo>
                      <a:pt x="18414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63499" y="112651"/>
                <a:ext cx="184147" cy="183010"/>
              </a:xfrm>
              <a:custGeom>
                <a:avLst/>
                <a:gdLst/>
                <a:ahLst/>
                <a:cxnLst/>
                <a:rect r="r" b="b" t="t" l="l"/>
                <a:pathLst>
                  <a:path h="183010" w="184147">
                    <a:moveTo>
                      <a:pt x="0" y="183010"/>
                    </a:moveTo>
                    <a:lnTo>
                      <a:pt x="184147" y="183010"/>
                    </a:lnTo>
                    <a:lnTo>
                      <a:pt x="18414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6629509" y="2340031"/>
              <a:ext cx="398640" cy="292506"/>
              <a:chOff x="0" y="0"/>
              <a:chExt cx="261125" cy="191605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61108" cy="191644"/>
              </a:xfrm>
              <a:custGeom>
                <a:avLst/>
                <a:gdLst/>
                <a:ahLst/>
                <a:cxnLst/>
                <a:rect r="r" b="b" t="t" l="l"/>
                <a:pathLst>
                  <a:path h="191644" w="261108">
                    <a:moveTo>
                      <a:pt x="0" y="191644"/>
                    </a:moveTo>
                    <a:lnTo>
                      <a:pt x="261108" y="191644"/>
                    </a:lnTo>
                    <a:lnTo>
                      <a:pt x="26110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6629509" y="3324991"/>
              <a:ext cx="398640" cy="292506"/>
              <a:chOff x="0" y="0"/>
              <a:chExt cx="261125" cy="19160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61108" cy="191644"/>
              </a:xfrm>
              <a:custGeom>
                <a:avLst/>
                <a:gdLst/>
                <a:ahLst/>
                <a:cxnLst/>
                <a:rect r="r" b="b" t="t" l="l"/>
                <a:pathLst>
                  <a:path h="191644" w="261108">
                    <a:moveTo>
                      <a:pt x="0" y="191644"/>
                    </a:moveTo>
                    <a:lnTo>
                      <a:pt x="261108" y="191644"/>
                    </a:lnTo>
                    <a:lnTo>
                      <a:pt x="26110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0">
              <a:off x="6629509" y="4211117"/>
              <a:ext cx="398640" cy="292506"/>
              <a:chOff x="0" y="0"/>
              <a:chExt cx="261125" cy="19160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61108" cy="191644"/>
              </a:xfrm>
              <a:custGeom>
                <a:avLst/>
                <a:gdLst/>
                <a:ahLst/>
                <a:cxnLst/>
                <a:rect r="r" b="b" t="t" l="l"/>
                <a:pathLst>
                  <a:path h="191644" w="261108">
                    <a:moveTo>
                      <a:pt x="0" y="191644"/>
                    </a:moveTo>
                    <a:lnTo>
                      <a:pt x="261108" y="191644"/>
                    </a:lnTo>
                    <a:lnTo>
                      <a:pt x="26110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6629509" y="5099801"/>
              <a:ext cx="398640" cy="292506"/>
              <a:chOff x="0" y="0"/>
              <a:chExt cx="261125" cy="191605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61108" cy="191644"/>
              </a:xfrm>
              <a:custGeom>
                <a:avLst/>
                <a:gdLst/>
                <a:ahLst/>
                <a:cxnLst/>
                <a:rect r="r" b="b" t="t" l="l"/>
                <a:pathLst>
                  <a:path h="191644" w="261108">
                    <a:moveTo>
                      <a:pt x="0" y="191644"/>
                    </a:moveTo>
                    <a:lnTo>
                      <a:pt x="261108" y="191644"/>
                    </a:lnTo>
                    <a:lnTo>
                      <a:pt x="26110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6629509" y="5988486"/>
              <a:ext cx="398640" cy="292506"/>
              <a:chOff x="0" y="0"/>
              <a:chExt cx="261125" cy="191605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61108" cy="191644"/>
              </a:xfrm>
              <a:custGeom>
                <a:avLst/>
                <a:gdLst/>
                <a:ahLst/>
                <a:cxnLst/>
                <a:rect r="r" b="b" t="t" l="l"/>
                <a:pathLst>
                  <a:path h="191644" w="261108">
                    <a:moveTo>
                      <a:pt x="0" y="191644"/>
                    </a:moveTo>
                    <a:lnTo>
                      <a:pt x="261108" y="191644"/>
                    </a:lnTo>
                    <a:lnTo>
                      <a:pt x="26110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  <p:sp>
          <p:nvSpPr>
            <p:cNvPr name="Freeform 36" id="36"/>
            <p:cNvSpPr/>
            <p:nvPr/>
          </p:nvSpPr>
          <p:spPr>
            <a:xfrm flipH="false" flipV="false" rot="0">
              <a:off x="4660912" y="3916490"/>
              <a:ext cx="974406" cy="723844"/>
            </a:xfrm>
            <a:custGeom>
              <a:avLst/>
              <a:gdLst/>
              <a:ahLst/>
              <a:cxnLst/>
              <a:rect r="r" b="b" t="t" l="l"/>
              <a:pathLst>
                <a:path h="723844" w="974406">
                  <a:moveTo>
                    <a:pt x="0" y="0"/>
                  </a:moveTo>
                  <a:lnTo>
                    <a:pt x="974406" y="0"/>
                  </a:lnTo>
                  <a:lnTo>
                    <a:pt x="974406" y="723844"/>
                  </a:lnTo>
                  <a:lnTo>
                    <a:pt x="0" y="723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 rot="0">
              <a:off x="2336570" y="-85725"/>
              <a:ext cx="117375" cy="764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7"/>
                </a:lnSpc>
              </a:pPr>
              <a:r>
                <a:rPr lang="en-US" b="true" sz="320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4587960" y="1130163"/>
              <a:ext cx="802559" cy="763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2"/>
                </a:lnSpc>
              </a:pPr>
              <a:r>
                <a:rPr lang="en-US" b="true" sz="1597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Other Tools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60790" y="4181086"/>
              <a:ext cx="4061355" cy="39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5"/>
                </a:lnSpc>
              </a:pPr>
              <a:r>
                <a:rPr lang="en-US" b="true" sz="1711">
                  <a:solidFill>
                    <a:srgbClr val="3D3D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</a:t>
              </a:r>
              <a:r>
                <a:rPr lang="en-US" b="true" sz="1711">
                  <a:solidFill>
                    <a:srgbClr val="3D3D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enerative AI Investigation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6081344" y="1295769"/>
              <a:ext cx="1639151" cy="39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95"/>
                </a:lnSpc>
              </a:pPr>
              <a:r>
                <a:rPr lang="en-US" b="true" sz="1711">
                  <a:solidFill>
                    <a:srgbClr val="1900B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APK SHIELD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60790" y="5072097"/>
              <a:ext cx="3416441" cy="407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55"/>
                </a:lnSpc>
              </a:pPr>
              <a:r>
                <a:rPr lang="en-US" b="true" sz="1825">
                  <a:solidFill>
                    <a:srgbClr val="3D3D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Plain-Engli</a:t>
              </a:r>
              <a:r>
                <a:rPr lang="en-US" b="true" sz="1825">
                  <a:solidFill>
                    <a:srgbClr val="3D3D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sh Reports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360790" y="5973985"/>
              <a:ext cx="3416441" cy="407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55"/>
                </a:lnSpc>
              </a:pPr>
              <a:r>
                <a:rPr lang="en-US" b="true" sz="1825">
                  <a:solidFill>
                    <a:srgbClr val="3D3D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Pla</a:t>
              </a:r>
              <a:r>
                <a:rPr lang="en-US" b="true" sz="1825">
                  <a:solidFill>
                    <a:srgbClr val="3D3D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in-English Reports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360790" y="3225324"/>
              <a:ext cx="3825065" cy="407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55"/>
                </a:lnSpc>
              </a:pPr>
              <a:r>
                <a:rPr lang="en-US" b="true" sz="1825">
                  <a:solidFill>
                    <a:srgbClr val="3D3D3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Automated Risk Scoring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83885" y="-85725"/>
              <a:ext cx="5860889" cy="733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7"/>
                </a:lnSpc>
              </a:pP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464777" y="1071684"/>
              <a:ext cx="2075607" cy="7176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27"/>
                </a:lnSpc>
                <a:spcBef>
                  <a:spcPct val="0"/>
                </a:spcBef>
              </a:pPr>
              <a:r>
                <a:rPr lang="en-US" b="true" sz="309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Feature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327463" y="2284060"/>
              <a:ext cx="3968543" cy="3714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3"/>
                </a:lnSpc>
                <a:spcBef>
                  <a:spcPct val="0"/>
                </a:spcBef>
              </a:pPr>
              <a:r>
                <a:rPr lang="en-US" b="true" sz="1602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Manual Reverse Engineering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748648">
            <a:off x="-4710219" y="-3966823"/>
            <a:ext cx="13730710" cy="14361545"/>
          </a:xfrm>
          <a:custGeom>
            <a:avLst/>
            <a:gdLst/>
            <a:ahLst/>
            <a:cxnLst/>
            <a:rect r="r" b="b" t="t" l="l"/>
            <a:pathLst>
              <a:path h="14361545" w="13730710">
                <a:moveTo>
                  <a:pt x="13730709" y="14361545"/>
                </a:moveTo>
                <a:lnTo>
                  <a:pt x="0" y="14361545"/>
                </a:lnTo>
                <a:lnTo>
                  <a:pt x="0" y="0"/>
                </a:lnTo>
                <a:lnTo>
                  <a:pt x="13730709" y="0"/>
                </a:lnTo>
                <a:lnTo>
                  <a:pt x="13730709" y="1436154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02519" y="1500939"/>
            <a:ext cx="12878817" cy="13470514"/>
          </a:xfrm>
          <a:custGeom>
            <a:avLst/>
            <a:gdLst/>
            <a:ahLst/>
            <a:cxnLst/>
            <a:rect r="r" b="b" t="t" l="l"/>
            <a:pathLst>
              <a:path h="13470514" w="12878817">
                <a:moveTo>
                  <a:pt x="0" y="0"/>
                </a:moveTo>
                <a:lnTo>
                  <a:pt x="12878817" y="0"/>
                </a:lnTo>
                <a:lnTo>
                  <a:pt x="12878817" y="13470514"/>
                </a:lnTo>
                <a:lnTo>
                  <a:pt x="0" y="13470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65782" y="1028700"/>
            <a:ext cx="6426989" cy="5834151"/>
            <a:chOff x="0" y="0"/>
            <a:chExt cx="1692705" cy="15365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92705" cy="1536566"/>
            </a:xfrm>
            <a:custGeom>
              <a:avLst/>
              <a:gdLst/>
              <a:ahLst/>
              <a:cxnLst/>
              <a:rect r="r" b="b" t="t" l="l"/>
              <a:pathLst>
                <a:path h="1536566" w="1692705">
                  <a:moveTo>
                    <a:pt x="120460" y="0"/>
                  </a:moveTo>
                  <a:lnTo>
                    <a:pt x="1572245" y="0"/>
                  </a:lnTo>
                  <a:cubicBezTo>
                    <a:pt x="1638773" y="0"/>
                    <a:pt x="1692705" y="53932"/>
                    <a:pt x="1692705" y="120460"/>
                  </a:cubicBezTo>
                  <a:lnTo>
                    <a:pt x="1692705" y="1416107"/>
                  </a:lnTo>
                  <a:cubicBezTo>
                    <a:pt x="1692705" y="1482635"/>
                    <a:pt x="1638773" y="1536566"/>
                    <a:pt x="1572245" y="1536566"/>
                  </a:cubicBezTo>
                  <a:lnTo>
                    <a:pt x="120460" y="1536566"/>
                  </a:lnTo>
                  <a:cubicBezTo>
                    <a:pt x="53932" y="1536566"/>
                    <a:pt x="0" y="1482635"/>
                    <a:pt x="0" y="1416107"/>
                  </a:cubicBezTo>
                  <a:lnTo>
                    <a:pt x="0" y="120460"/>
                  </a:lnTo>
                  <a:cubicBezTo>
                    <a:pt x="0" y="53932"/>
                    <a:pt x="53932" y="0"/>
                    <a:pt x="120460" y="0"/>
                  </a:cubicBezTo>
                  <a:close/>
                </a:path>
              </a:pathLst>
            </a:custGeom>
            <a:solidFill>
              <a:srgbClr val="C4EBF5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692705" cy="1584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19841" y="1028700"/>
            <a:ext cx="8802378" cy="8811043"/>
            <a:chOff x="0" y="0"/>
            <a:chExt cx="2318322" cy="23206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18322" cy="2320604"/>
            </a:xfrm>
            <a:custGeom>
              <a:avLst/>
              <a:gdLst/>
              <a:ahLst/>
              <a:cxnLst/>
              <a:rect r="r" b="b" t="t" l="l"/>
              <a:pathLst>
                <a:path h="2320604" w="2318322">
                  <a:moveTo>
                    <a:pt x="87953" y="0"/>
                  </a:moveTo>
                  <a:lnTo>
                    <a:pt x="2230369" y="0"/>
                  </a:lnTo>
                  <a:cubicBezTo>
                    <a:pt x="2253696" y="0"/>
                    <a:pt x="2276067" y="9266"/>
                    <a:pt x="2292561" y="25761"/>
                  </a:cubicBezTo>
                  <a:cubicBezTo>
                    <a:pt x="2309055" y="42255"/>
                    <a:pt x="2318322" y="64626"/>
                    <a:pt x="2318322" y="87953"/>
                  </a:cubicBezTo>
                  <a:lnTo>
                    <a:pt x="2318322" y="2232651"/>
                  </a:lnTo>
                  <a:cubicBezTo>
                    <a:pt x="2318322" y="2255978"/>
                    <a:pt x="2309055" y="2278349"/>
                    <a:pt x="2292561" y="2294843"/>
                  </a:cubicBezTo>
                  <a:cubicBezTo>
                    <a:pt x="2276067" y="2311337"/>
                    <a:pt x="2253696" y="2320604"/>
                    <a:pt x="2230369" y="2320604"/>
                  </a:cubicBezTo>
                  <a:lnTo>
                    <a:pt x="87953" y="2320604"/>
                  </a:lnTo>
                  <a:cubicBezTo>
                    <a:pt x="64626" y="2320604"/>
                    <a:pt x="42255" y="2311337"/>
                    <a:pt x="25761" y="2294843"/>
                  </a:cubicBezTo>
                  <a:cubicBezTo>
                    <a:pt x="9266" y="2278349"/>
                    <a:pt x="0" y="2255978"/>
                    <a:pt x="0" y="2232651"/>
                  </a:cubicBezTo>
                  <a:lnTo>
                    <a:pt x="0" y="87953"/>
                  </a:lnTo>
                  <a:cubicBezTo>
                    <a:pt x="0" y="64626"/>
                    <a:pt x="9266" y="42255"/>
                    <a:pt x="25761" y="25761"/>
                  </a:cubicBezTo>
                  <a:cubicBezTo>
                    <a:pt x="42255" y="9266"/>
                    <a:pt x="64626" y="0"/>
                    <a:pt x="87953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318322" cy="23682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483108" y="2830579"/>
            <a:ext cx="1032614" cy="1159056"/>
          </a:xfrm>
          <a:custGeom>
            <a:avLst/>
            <a:gdLst/>
            <a:ahLst/>
            <a:cxnLst/>
            <a:rect r="r" b="b" t="t" l="l"/>
            <a:pathLst>
              <a:path h="1159056" w="1032614">
                <a:moveTo>
                  <a:pt x="0" y="0"/>
                </a:moveTo>
                <a:lnTo>
                  <a:pt x="1032613" y="0"/>
                </a:lnTo>
                <a:lnTo>
                  <a:pt x="1032613" y="1159056"/>
                </a:lnTo>
                <a:lnTo>
                  <a:pt x="0" y="1159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83108" y="5724943"/>
            <a:ext cx="873086" cy="1137908"/>
          </a:xfrm>
          <a:custGeom>
            <a:avLst/>
            <a:gdLst/>
            <a:ahLst/>
            <a:cxnLst/>
            <a:rect r="r" b="b" t="t" l="l"/>
            <a:pathLst>
              <a:path h="1137908" w="873086">
                <a:moveTo>
                  <a:pt x="0" y="0"/>
                </a:moveTo>
                <a:lnTo>
                  <a:pt x="873085" y="0"/>
                </a:lnTo>
                <a:lnTo>
                  <a:pt x="873085" y="1137908"/>
                </a:lnTo>
                <a:lnTo>
                  <a:pt x="0" y="11379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317202" y="7524980"/>
            <a:ext cx="1204897" cy="1044974"/>
          </a:xfrm>
          <a:custGeom>
            <a:avLst/>
            <a:gdLst/>
            <a:ahLst/>
            <a:cxnLst/>
            <a:rect r="r" b="b" t="t" l="l"/>
            <a:pathLst>
              <a:path h="1044974" w="1204897">
                <a:moveTo>
                  <a:pt x="0" y="0"/>
                </a:moveTo>
                <a:lnTo>
                  <a:pt x="1204897" y="0"/>
                </a:lnTo>
                <a:lnTo>
                  <a:pt x="1204897" y="1044974"/>
                </a:lnTo>
                <a:lnTo>
                  <a:pt x="0" y="10449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02383" y="5990067"/>
            <a:ext cx="4946547" cy="4114800"/>
          </a:xfrm>
          <a:custGeom>
            <a:avLst/>
            <a:gdLst/>
            <a:ahLst/>
            <a:cxnLst/>
            <a:rect r="r" b="b" t="t" l="l"/>
            <a:pathLst>
              <a:path h="4114800" w="4946547">
                <a:moveTo>
                  <a:pt x="0" y="0"/>
                </a:moveTo>
                <a:lnTo>
                  <a:pt x="4946547" y="0"/>
                </a:lnTo>
                <a:lnTo>
                  <a:pt x="49465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-6250112">
            <a:off x="5308474" y="4885107"/>
            <a:ext cx="2207541" cy="3936437"/>
          </a:xfrm>
          <a:custGeom>
            <a:avLst/>
            <a:gdLst/>
            <a:ahLst/>
            <a:cxnLst/>
            <a:rect r="r" b="b" t="t" l="l"/>
            <a:pathLst>
              <a:path h="3936437" w="2207541">
                <a:moveTo>
                  <a:pt x="2207541" y="0"/>
                </a:moveTo>
                <a:lnTo>
                  <a:pt x="0" y="0"/>
                </a:lnTo>
                <a:lnTo>
                  <a:pt x="0" y="3936437"/>
                </a:lnTo>
                <a:lnTo>
                  <a:pt x="2207541" y="3936437"/>
                </a:lnTo>
                <a:lnTo>
                  <a:pt x="220754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55135" y="1724443"/>
            <a:ext cx="5131101" cy="400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6"/>
              </a:lnSpc>
              <a:spcBef>
                <a:spcPct val="0"/>
              </a:spcBef>
            </a:pPr>
            <a:r>
              <a:rPr lang="en-US" sz="660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users intereact with the system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1808901"/>
            <a:ext cx="7359693" cy="7253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4"/>
              </a:lnSpc>
            </a:pPr>
            <a:r>
              <a:rPr lang="en-US" sz="278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There are three seamless subm</a:t>
            </a:r>
            <a:r>
              <a:rPr lang="en-US" sz="278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ission methods available:</a:t>
            </a:r>
          </a:p>
          <a:p>
            <a:pPr algn="l" marL="601704" indent="-300852" lvl="1">
              <a:lnSpc>
                <a:spcPts val="3344"/>
              </a:lnSpc>
              <a:buFont typeface="Arial"/>
              <a:buChar char="•"/>
            </a:pPr>
            <a:r>
              <a:rPr lang="en-US" b="true" sz="2786">
                <a:solidFill>
                  <a:srgbClr val="1A3E7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Telegram Bot:</a:t>
            </a:r>
            <a:r>
              <a:rPr lang="en-US" sz="278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This is the primary recommendation because real-world fraud usually begins via SMS or WhatsApp links. Users can simply forward the suspicious message directly to the bot. The system processes it automatically with no manual downloads required.</a:t>
            </a:r>
          </a:p>
          <a:p>
            <a:pPr algn="l" marL="601704" indent="-300852" lvl="1">
              <a:lnSpc>
                <a:spcPts val="3344"/>
              </a:lnSpc>
              <a:buFont typeface="Arial"/>
              <a:buChar char="•"/>
            </a:pPr>
            <a:r>
              <a:rPr lang="en-US" b="true" sz="2786">
                <a:solidFill>
                  <a:srgbClr val="1A3E7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Web Application</a:t>
            </a:r>
            <a:r>
              <a:rPr lang="en-US" sz="278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A clean web portal where users can upload APK files or paste links manually. This interface is perfect for live demonstrations and judging sessions.</a:t>
            </a:r>
          </a:p>
          <a:p>
            <a:pPr algn="l" marL="601704" indent="-300852" lvl="1">
              <a:lnSpc>
                <a:spcPts val="3344"/>
              </a:lnSpc>
              <a:buFont typeface="Arial"/>
              <a:buChar char="•"/>
            </a:pPr>
            <a:r>
              <a:rPr lang="en-US" b="true" sz="2786">
                <a:solidFill>
                  <a:srgbClr val="1A3E75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Desktop Integration:</a:t>
            </a:r>
            <a:r>
              <a:rPr lang="en-US" sz="2786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 shortcut that allows a user to right-click any APK file on their computer to start the analysis. The results open automatically in their browser.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9758849">
            <a:off x="7763468" y="1601868"/>
            <a:ext cx="13730710" cy="14361545"/>
          </a:xfrm>
          <a:custGeom>
            <a:avLst/>
            <a:gdLst/>
            <a:ahLst/>
            <a:cxnLst/>
            <a:rect r="r" b="b" t="t" l="l"/>
            <a:pathLst>
              <a:path h="14361545" w="13730710">
                <a:moveTo>
                  <a:pt x="13730710" y="14361545"/>
                </a:moveTo>
                <a:lnTo>
                  <a:pt x="0" y="14361545"/>
                </a:lnTo>
                <a:lnTo>
                  <a:pt x="0" y="0"/>
                </a:lnTo>
                <a:lnTo>
                  <a:pt x="13730710" y="0"/>
                </a:lnTo>
                <a:lnTo>
                  <a:pt x="13730710" y="1436154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748648">
            <a:off x="-4710219" y="-3966823"/>
            <a:ext cx="13730710" cy="14361545"/>
          </a:xfrm>
          <a:custGeom>
            <a:avLst/>
            <a:gdLst/>
            <a:ahLst/>
            <a:cxnLst/>
            <a:rect r="r" b="b" t="t" l="l"/>
            <a:pathLst>
              <a:path h="14361545" w="13730710">
                <a:moveTo>
                  <a:pt x="13730709" y="14361545"/>
                </a:moveTo>
                <a:lnTo>
                  <a:pt x="0" y="14361545"/>
                </a:lnTo>
                <a:lnTo>
                  <a:pt x="0" y="0"/>
                </a:lnTo>
                <a:lnTo>
                  <a:pt x="13730709" y="0"/>
                </a:lnTo>
                <a:lnTo>
                  <a:pt x="13730709" y="1436154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365432"/>
            <a:ext cx="2886183" cy="1326536"/>
            <a:chOff x="0" y="0"/>
            <a:chExt cx="923206" cy="424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23206" cy="424320"/>
            </a:xfrm>
            <a:custGeom>
              <a:avLst/>
              <a:gdLst/>
              <a:ahLst/>
              <a:cxnLst/>
              <a:rect r="r" b="b" t="t" l="l"/>
              <a:pathLst>
                <a:path h="424320" w="923206">
                  <a:moveTo>
                    <a:pt x="212160" y="0"/>
                  </a:moveTo>
                  <a:lnTo>
                    <a:pt x="711046" y="0"/>
                  </a:lnTo>
                  <a:cubicBezTo>
                    <a:pt x="767314" y="0"/>
                    <a:pt x="821278" y="22353"/>
                    <a:pt x="861065" y="62140"/>
                  </a:cubicBezTo>
                  <a:cubicBezTo>
                    <a:pt x="900853" y="101928"/>
                    <a:pt x="923206" y="155892"/>
                    <a:pt x="923206" y="212160"/>
                  </a:cubicBezTo>
                  <a:lnTo>
                    <a:pt x="923206" y="212160"/>
                  </a:lnTo>
                  <a:cubicBezTo>
                    <a:pt x="923206" y="268428"/>
                    <a:pt x="900853" y="322392"/>
                    <a:pt x="861065" y="362180"/>
                  </a:cubicBezTo>
                  <a:cubicBezTo>
                    <a:pt x="821278" y="401968"/>
                    <a:pt x="767314" y="424320"/>
                    <a:pt x="711046" y="424320"/>
                  </a:cubicBezTo>
                  <a:lnTo>
                    <a:pt x="212160" y="424320"/>
                  </a:lnTo>
                  <a:cubicBezTo>
                    <a:pt x="155892" y="424320"/>
                    <a:pt x="101928" y="401968"/>
                    <a:pt x="62140" y="362180"/>
                  </a:cubicBezTo>
                  <a:cubicBezTo>
                    <a:pt x="22353" y="322392"/>
                    <a:pt x="0" y="268428"/>
                    <a:pt x="0" y="212160"/>
                  </a:cubicBezTo>
                  <a:lnTo>
                    <a:pt x="0" y="212160"/>
                  </a:lnTo>
                  <a:cubicBezTo>
                    <a:pt x="0" y="155892"/>
                    <a:pt x="22353" y="101928"/>
                    <a:pt x="62140" y="62140"/>
                  </a:cubicBezTo>
                  <a:cubicBezTo>
                    <a:pt x="101928" y="22353"/>
                    <a:pt x="155892" y="0"/>
                    <a:pt x="212160" y="0"/>
                  </a:cubicBezTo>
                  <a:close/>
                </a:path>
              </a:pathLst>
            </a:custGeom>
            <a:solidFill>
              <a:srgbClr val="00BF63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923206" cy="471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User submitted APK file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1920670">
            <a:off x="15700235" y="1045588"/>
            <a:ext cx="2036461" cy="2003138"/>
          </a:xfrm>
          <a:custGeom>
            <a:avLst/>
            <a:gdLst/>
            <a:ahLst/>
            <a:cxnLst/>
            <a:rect r="r" b="b" t="t" l="l"/>
            <a:pathLst>
              <a:path h="2003138" w="2036461">
                <a:moveTo>
                  <a:pt x="0" y="0"/>
                </a:moveTo>
                <a:lnTo>
                  <a:pt x="2036461" y="0"/>
                </a:lnTo>
                <a:lnTo>
                  <a:pt x="2036461" y="2003137"/>
                </a:lnTo>
                <a:lnTo>
                  <a:pt x="0" y="20031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370071">
            <a:off x="9706369" y="1274962"/>
            <a:ext cx="1818278" cy="1084355"/>
          </a:xfrm>
          <a:custGeom>
            <a:avLst/>
            <a:gdLst/>
            <a:ahLst/>
            <a:cxnLst/>
            <a:rect r="r" b="b" t="t" l="l"/>
            <a:pathLst>
              <a:path h="1084355" w="1818278">
                <a:moveTo>
                  <a:pt x="0" y="0"/>
                </a:moveTo>
                <a:lnTo>
                  <a:pt x="1818278" y="0"/>
                </a:lnTo>
                <a:lnTo>
                  <a:pt x="1818278" y="1084354"/>
                </a:lnTo>
                <a:lnTo>
                  <a:pt x="0" y="10843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274915">
            <a:off x="3909729" y="1412480"/>
            <a:ext cx="1233034" cy="809319"/>
          </a:xfrm>
          <a:custGeom>
            <a:avLst/>
            <a:gdLst/>
            <a:ahLst/>
            <a:cxnLst/>
            <a:rect r="r" b="b" t="t" l="l"/>
            <a:pathLst>
              <a:path h="809319" w="1233034">
                <a:moveTo>
                  <a:pt x="0" y="0"/>
                </a:moveTo>
                <a:lnTo>
                  <a:pt x="1233034" y="0"/>
                </a:lnTo>
                <a:lnTo>
                  <a:pt x="1233034" y="809318"/>
                </a:lnTo>
                <a:lnTo>
                  <a:pt x="0" y="8093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0153" y="2047157"/>
            <a:ext cx="2816031" cy="1294293"/>
            <a:chOff x="0" y="0"/>
            <a:chExt cx="923206" cy="424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3206" cy="424320"/>
            </a:xfrm>
            <a:custGeom>
              <a:avLst/>
              <a:gdLst/>
              <a:ahLst/>
              <a:cxnLst/>
              <a:rect r="r" b="b" t="t" l="l"/>
              <a:pathLst>
                <a:path h="424320" w="923206">
                  <a:moveTo>
                    <a:pt x="212160" y="0"/>
                  </a:moveTo>
                  <a:lnTo>
                    <a:pt x="711046" y="0"/>
                  </a:lnTo>
                  <a:cubicBezTo>
                    <a:pt x="767314" y="0"/>
                    <a:pt x="821278" y="22353"/>
                    <a:pt x="861065" y="62140"/>
                  </a:cubicBezTo>
                  <a:cubicBezTo>
                    <a:pt x="900853" y="101928"/>
                    <a:pt x="923206" y="155892"/>
                    <a:pt x="923206" y="212160"/>
                  </a:cubicBezTo>
                  <a:lnTo>
                    <a:pt x="923206" y="212160"/>
                  </a:lnTo>
                  <a:cubicBezTo>
                    <a:pt x="923206" y="268428"/>
                    <a:pt x="900853" y="322392"/>
                    <a:pt x="861065" y="362180"/>
                  </a:cubicBezTo>
                  <a:cubicBezTo>
                    <a:pt x="821278" y="401968"/>
                    <a:pt x="767314" y="424320"/>
                    <a:pt x="711046" y="424320"/>
                  </a:cubicBezTo>
                  <a:lnTo>
                    <a:pt x="212160" y="424320"/>
                  </a:lnTo>
                  <a:cubicBezTo>
                    <a:pt x="155892" y="424320"/>
                    <a:pt x="101928" y="401968"/>
                    <a:pt x="62140" y="362180"/>
                  </a:cubicBezTo>
                  <a:cubicBezTo>
                    <a:pt x="22353" y="322392"/>
                    <a:pt x="0" y="268428"/>
                    <a:pt x="0" y="212160"/>
                  </a:cubicBezTo>
                  <a:lnTo>
                    <a:pt x="0" y="212160"/>
                  </a:lnTo>
                  <a:cubicBezTo>
                    <a:pt x="0" y="155892"/>
                    <a:pt x="22353" y="101928"/>
                    <a:pt x="62140" y="62140"/>
                  </a:cubicBezTo>
                  <a:cubicBezTo>
                    <a:pt x="101928" y="22353"/>
                    <a:pt x="155892" y="0"/>
                    <a:pt x="212160" y="0"/>
                  </a:cubicBezTo>
                  <a:close/>
                </a:path>
              </a:pathLst>
            </a:custGeom>
            <a:solidFill>
              <a:srgbClr val="F9B44E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23206" cy="471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Stage 0 : Source Verification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118231" y="2047157"/>
            <a:ext cx="2816031" cy="1294293"/>
            <a:chOff x="0" y="0"/>
            <a:chExt cx="923206" cy="4243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3206" cy="424320"/>
            </a:xfrm>
            <a:custGeom>
              <a:avLst/>
              <a:gdLst/>
              <a:ahLst/>
              <a:cxnLst/>
              <a:rect r="r" b="b" t="t" l="l"/>
              <a:pathLst>
                <a:path h="424320" w="923206">
                  <a:moveTo>
                    <a:pt x="212160" y="0"/>
                  </a:moveTo>
                  <a:lnTo>
                    <a:pt x="711046" y="0"/>
                  </a:lnTo>
                  <a:cubicBezTo>
                    <a:pt x="767314" y="0"/>
                    <a:pt x="821278" y="22353"/>
                    <a:pt x="861065" y="62140"/>
                  </a:cubicBezTo>
                  <a:cubicBezTo>
                    <a:pt x="900853" y="101928"/>
                    <a:pt x="923206" y="155892"/>
                    <a:pt x="923206" y="212160"/>
                  </a:cubicBezTo>
                  <a:lnTo>
                    <a:pt x="923206" y="212160"/>
                  </a:lnTo>
                  <a:cubicBezTo>
                    <a:pt x="923206" y="268428"/>
                    <a:pt x="900853" y="322392"/>
                    <a:pt x="861065" y="362180"/>
                  </a:cubicBezTo>
                  <a:cubicBezTo>
                    <a:pt x="821278" y="401968"/>
                    <a:pt x="767314" y="424320"/>
                    <a:pt x="711046" y="424320"/>
                  </a:cubicBezTo>
                  <a:lnTo>
                    <a:pt x="212160" y="424320"/>
                  </a:lnTo>
                  <a:cubicBezTo>
                    <a:pt x="155892" y="424320"/>
                    <a:pt x="101928" y="401968"/>
                    <a:pt x="62140" y="362180"/>
                  </a:cubicBezTo>
                  <a:cubicBezTo>
                    <a:pt x="22353" y="322392"/>
                    <a:pt x="0" y="268428"/>
                    <a:pt x="0" y="212160"/>
                  </a:cubicBezTo>
                  <a:lnTo>
                    <a:pt x="0" y="212160"/>
                  </a:lnTo>
                  <a:cubicBezTo>
                    <a:pt x="0" y="155892"/>
                    <a:pt x="22353" y="101928"/>
                    <a:pt x="62140" y="62140"/>
                  </a:cubicBezTo>
                  <a:cubicBezTo>
                    <a:pt x="101928" y="22353"/>
                    <a:pt x="155892" y="0"/>
                    <a:pt x="212160" y="0"/>
                  </a:cubicBezTo>
                  <a:close/>
                </a:path>
              </a:pathLst>
            </a:custGeom>
            <a:solidFill>
              <a:srgbClr val="F9B44E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923206" cy="471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399" strike="noStrike" u="non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Stage 1 : APK Identity Analysis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207492" y="2047157"/>
            <a:ext cx="2816031" cy="1294293"/>
            <a:chOff x="0" y="0"/>
            <a:chExt cx="923206" cy="4243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3206" cy="424320"/>
            </a:xfrm>
            <a:custGeom>
              <a:avLst/>
              <a:gdLst/>
              <a:ahLst/>
              <a:cxnLst/>
              <a:rect r="r" b="b" t="t" l="l"/>
              <a:pathLst>
                <a:path h="424320" w="923206">
                  <a:moveTo>
                    <a:pt x="212160" y="0"/>
                  </a:moveTo>
                  <a:lnTo>
                    <a:pt x="711046" y="0"/>
                  </a:lnTo>
                  <a:cubicBezTo>
                    <a:pt x="767314" y="0"/>
                    <a:pt x="821278" y="22353"/>
                    <a:pt x="861065" y="62140"/>
                  </a:cubicBezTo>
                  <a:cubicBezTo>
                    <a:pt x="900853" y="101928"/>
                    <a:pt x="923206" y="155892"/>
                    <a:pt x="923206" y="212160"/>
                  </a:cubicBezTo>
                  <a:lnTo>
                    <a:pt x="923206" y="212160"/>
                  </a:lnTo>
                  <a:cubicBezTo>
                    <a:pt x="923206" y="268428"/>
                    <a:pt x="900853" y="322392"/>
                    <a:pt x="861065" y="362180"/>
                  </a:cubicBezTo>
                  <a:cubicBezTo>
                    <a:pt x="821278" y="401968"/>
                    <a:pt x="767314" y="424320"/>
                    <a:pt x="711046" y="424320"/>
                  </a:cubicBezTo>
                  <a:lnTo>
                    <a:pt x="212160" y="424320"/>
                  </a:lnTo>
                  <a:cubicBezTo>
                    <a:pt x="155892" y="424320"/>
                    <a:pt x="101928" y="401968"/>
                    <a:pt x="62140" y="362180"/>
                  </a:cubicBezTo>
                  <a:cubicBezTo>
                    <a:pt x="22353" y="322392"/>
                    <a:pt x="0" y="268428"/>
                    <a:pt x="0" y="212160"/>
                  </a:cubicBezTo>
                  <a:lnTo>
                    <a:pt x="0" y="212160"/>
                  </a:lnTo>
                  <a:cubicBezTo>
                    <a:pt x="0" y="155892"/>
                    <a:pt x="22353" y="101928"/>
                    <a:pt x="62140" y="62140"/>
                  </a:cubicBezTo>
                  <a:cubicBezTo>
                    <a:pt x="101928" y="22353"/>
                    <a:pt x="155892" y="0"/>
                    <a:pt x="212160" y="0"/>
                  </a:cubicBezTo>
                  <a:close/>
                </a:path>
              </a:pathLst>
            </a:custGeom>
            <a:solidFill>
              <a:srgbClr val="F9B44E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23206" cy="471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 strike="noStrike" u="non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Stage 3 : Signature Detection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162862" y="2047157"/>
            <a:ext cx="2816031" cy="1294293"/>
            <a:chOff x="0" y="0"/>
            <a:chExt cx="923206" cy="4243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23206" cy="424320"/>
            </a:xfrm>
            <a:custGeom>
              <a:avLst/>
              <a:gdLst/>
              <a:ahLst/>
              <a:cxnLst/>
              <a:rect r="r" b="b" t="t" l="l"/>
              <a:pathLst>
                <a:path h="424320" w="923206">
                  <a:moveTo>
                    <a:pt x="212160" y="0"/>
                  </a:moveTo>
                  <a:lnTo>
                    <a:pt x="711046" y="0"/>
                  </a:lnTo>
                  <a:cubicBezTo>
                    <a:pt x="767314" y="0"/>
                    <a:pt x="821278" y="22353"/>
                    <a:pt x="861065" y="62140"/>
                  </a:cubicBezTo>
                  <a:cubicBezTo>
                    <a:pt x="900853" y="101928"/>
                    <a:pt x="923206" y="155892"/>
                    <a:pt x="923206" y="212160"/>
                  </a:cubicBezTo>
                  <a:lnTo>
                    <a:pt x="923206" y="212160"/>
                  </a:lnTo>
                  <a:cubicBezTo>
                    <a:pt x="923206" y="268428"/>
                    <a:pt x="900853" y="322392"/>
                    <a:pt x="861065" y="362180"/>
                  </a:cubicBezTo>
                  <a:cubicBezTo>
                    <a:pt x="821278" y="401968"/>
                    <a:pt x="767314" y="424320"/>
                    <a:pt x="711046" y="424320"/>
                  </a:cubicBezTo>
                  <a:lnTo>
                    <a:pt x="212160" y="424320"/>
                  </a:lnTo>
                  <a:cubicBezTo>
                    <a:pt x="155892" y="424320"/>
                    <a:pt x="101928" y="401968"/>
                    <a:pt x="62140" y="362180"/>
                  </a:cubicBezTo>
                  <a:cubicBezTo>
                    <a:pt x="22353" y="322392"/>
                    <a:pt x="0" y="268428"/>
                    <a:pt x="0" y="212160"/>
                  </a:cubicBezTo>
                  <a:lnTo>
                    <a:pt x="0" y="212160"/>
                  </a:lnTo>
                  <a:cubicBezTo>
                    <a:pt x="0" y="155892"/>
                    <a:pt x="22353" y="101928"/>
                    <a:pt x="62140" y="62140"/>
                  </a:cubicBezTo>
                  <a:cubicBezTo>
                    <a:pt x="101928" y="22353"/>
                    <a:pt x="155892" y="0"/>
                    <a:pt x="212160" y="0"/>
                  </a:cubicBezTo>
                  <a:close/>
                </a:path>
              </a:pathLst>
            </a:custGeom>
            <a:solidFill>
              <a:srgbClr val="F9B44E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23206" cy="471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399" strike="noStrike" u="non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Stage 2 : Threat Intelligence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252123" y="2047157"/>
            <a:ext cx="2816031" cy="1294293"/>
            <a:chOff x="0" y="0"/>
            <a:chExt cx="923206" cy="4243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23206" cy="424320"/>
            </a:xfrm>
            <a:custGeom>
              <a:avLst/>
              <a:gdLst/>
              <a:ahLst/>
              <a:cxnLst/>
              <a:rect r="r" b="b" t="t" l="l"/>
              <a:pathLst>
                <a:path h="424320" w="923206">
                  <a:moveTo>
                    <a:pt x="212160" y="0"/>
                  </a:moveTo>
                  <a:lnTo>
                    <a:pt x="711046" y="0"/>
                  </a:lnTo>
                  <a:cubicBezTo>
                    <a:pt x="767314" y="0"/>
                    <a:pt x="821278" y="22353"/>
                    <a:pt x="861065" y="62140"/>
                  </a:cubicBezTo>
                  <a:cubicBezTo>
                    <a:pt x="900853" y="101928"/>
                    <a:pt x="923206" y="155892"/>
                    <a:pt x="923206" y="212160"/>
                  </a:cubicBezTo>
                  <a:lnTo>
                    <a:pt x="923206" y="212160"/>
                  </a:lnTo>
                  <a:cubicBezTo>
                    <a:pt x="923206" y="268428"/>
                    <a:pt x="900853" y="322392"/>
                    <a:pt x="861065" y="362180"/>
                  </a:cubicBezTo>
                  <a:cubicBezTo>
                    <a:pt x="821278" y="401968"/>
                    <a:pt x="767314" y="424320"/>
                    <a:pt x="711046" y="424320"/>
                  </a:cubicBezTo>
                  <a:lnTo>
                    <a:pt x="212160" y="424320"/>
                  </a:lnTo>
                  <a:cubicBezTo>
                    <a:pt x="155892" y="424320"/>
                    <a:pt x="101928" y="401968"/>
                    <a:pt x="62140" y="362180"/>
                  </a:cubicBezTo>
                  <a:cubicBezTo>
                    <a:pt x="22353" y="322392"/>
                    <a:pt x="0" y="268428"/>
                    <a:pt x="0" y="212160"/>
                  </a:cubicBezTo>
                  <a:lnTo>
                    <a:pt x="0" y="212160"/>
                  </a:lnTo>
                  <a:cubicBezTo>
                    <a:pt x="0" y="155892"/>
                    <a:pt x="22353" y="101928"/>
                    <a:pt x="62140" y="62140"/>
                  </a:cubicBezTo>
                  <a:cubicBezTo>
                    <a:pt x="101928" y="22353"/>
                    <a:pt x="155892" y="0"/>
                    <a:pt x="212160" y="0"/>
                  </a:cubicBezTo>
                  <a:close/>
                </a:path>
              </a:pathLst>
            </a:custGeom>
            <a:solidFill>
              <a:srgbClr val="F9B44E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23206" cy="471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19"/>
                </a:lnSpc>
                <a:spcBef>
                  <a:spcPct val="0"/>
                </a:spcBef>
              </a:pPr>
              <a:r>
                <a:rPr lang="en-US" b="true" sz="2299" strike="noStrike" u="non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Stage 4 : Dynamic Analysis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5296754" y="2047157"/>
            <a:ext cx="2816031" cy="1294293"/>
            <a:chOff x="0" y="0"/>
            <a:chExt cx="923206" cy="4243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23206" cy="424320"/>
            </a:xfrm>
            <a:custGeom>
              <a:avLst/>
              <a:gdLst/>
              <a:ahLst/>
              <a:cxnLst/>
              <a:rect r="r" b="b" t="t" l="l"/>
              <a:pathLst>
                <a:path h="424320" w="923206">
                  <a:moveTo>
                    <a:pt x="212160" y="0"/>
                  </a:moveTo>
                  <a:lnTo>
                    <a:pt x="711046" y="0"/>
                  </a:lnTo>
                  <a:cubicBezTo>
                    <a:pt x="767314" y="0"/>
                    <a:pt x="821278" y="22353"/>
                    <a:pt x="861065" y="62140"/>
                  </a:cubicBezTo>
                  <a:cubicBezTo>
                    <a:pt x="900853" y="101928"/>
                    <a:pt x="923206" y="155892"/>
                    <a:pt x="923206" y="212160"/>
                  </a:cubicBezTo>
                  <a:lnTo>
                    <a:pt x="923206" y="212160"/>
                  </a:lnTo>
                  <a:cubicBezTo>
                    <a:pt x="923206" y="268428"/>
                    <a:pt x="900853" y="322392"/>
                    <a:pt x="861065" y="362180"/>
                  </a:cubicBezTo>
                  <a:cubicBezTo>
                    <a:pt x="821278" y="401968"/>
                    <a:pt x="767314" y="424320"/>
                    <a:pt x="711046" y="424320"/>
                  </a:cubicBezTo>
                  <a:lnTo>
                    <a:pt x="212160" y="424320"/>
                  </a:lnTo>
                  <a:cubicBezTo>
                    <a:pt x="155892" y="424320"/>
                    <a:pt x="101928" y="401968"/>
                    <a:pt x="62140" y="362180"/>
                  </a:cubicBezTo>
                  <a:cubicBezTo>
                    <a:pt x="22353" y="322392"/>
                    <a:pt x="0" y="268428"/>
                    <a:pt x="0" y="212160"/>
                  </a:cubicBezTo>
                  <a:lnTo>
                    <a:pt x="0" y="212160"/>
                  </a:lnTo>
                  <a:cubicBezTo>
                    <a:pt x="0" y="155892"/>
                    <a:pt x="22353" y="101928"/>
                    <a:pt x="62140" y="62140"/>
                  </a:cubicBezTo>
                  <a:cubicBezTo>
                    <a:pt x="101928" y="22353"/>
                    <a:pt x="155892" y="0"/>
                    <a:pt x="212160" y="0"/>
                  </a:cubicBezTo>
                  <a:close/>
                </a:path>
              </a:pathLst>
            </a:custGeom>
            <a:solidFill>
              <a:srgbClr val="F9B44E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23206" cy="471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399" strike="noStrike" u="non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Stage 5 : Report Generation 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444" y="3827217"/>
            <a:ext cx="2662525" cy="1103340"/>
            <a:chOff x="0" y="0"/>
            <a:chExt cx="872880" cy="36171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72880" cy="361718"/>
            </a:xfrm>
            <a:custGeom>
              <a:avLst/>
              <a:gdLst/>
              <a:ahLst/>
              <a:cxnLst/>
              <a:rect r="r" b="b" t="t" l="l"/>
              <a:pathLst>
                <a:path h="361718" w="872880">
                  <a:moveTo>
                    <a:pt x="180859" y="0"/>
                  </a:moveTo>
                  <a:lnTo>
                    <a:pt x="692021" y="0"/>
                  </a:lnTo>
                  <a:cubicBezTo>
                    <a:pt x="739988" y="0"/>
                    <a:pt x="785990" y="19055"/>
                    <a:pt x="819908" y="52972"/>
                  </a:cubicBezTo>
                  <a:cubicBezTo>
                    <a:pt x="853826" y="86890"/>
                    <a:pt x="872880" y="132892"/>
                    <a:pt x="872880" y="180859"/>
                  </a:cubicBezTo>
                  <a:lnTo>
                    <a:pt x="872880" y="180859"/>
                  </a:lnTo>
                  <a:cubicBezTo>
                    <a:pt x="872880" y="280745"/>
                    <a:pt x="791907" y="361718"/>
                    <a:pt x="692021" y="361718"/>
                  </a:cubicBezTo>
                  <a:lnTo>
                    <a:pt x="180859" y="361718"/>
                  </a:lnTo>
                  <a:cubicBezTo>
                    <a:pt x="80973" y="361718"/>
                    <a:pt x="0" y="280745"/>
                    <a:pt x="0" y="180859"/>
                  </a:cubicBezTo>
                  <a:lnTo>
                    <a:pt x="0" y="180859"/>
                  </a:lnTo>
                  <a:cubicBezTo>
                    <a:pt x="0" y="80973"/>
                    <a:pt x="80973" y="0"/>
                    <a:pt x="180859" y="0"/>
                  </a:cubicBezTo>
                  <a:close/>
                </a:path>
              </a:pathLst>
            </a:custGeom>
            <a:solidFill>
              <a:srgbClr val="5CE1E6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872880" cy="390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Domain age check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SSL Verification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Infrastructure scan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41197" y="5565839"/>
            <a:ext cx="250901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Suspicious source?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1189" y="7964007"/>
            <a:ext cx="2791892" cy="1294293"/>
            <a:chOff x="0" y="0"/>
            <a:chExt cx="915292" cy="4243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5292" cy="424320"/>
            </a:xfrm>
            <a:custGeom>
              <a:avLst/>
              <a:gdLst/>
              <a:ahLst/>
              <a:cxnLst/>
              <a:rect r="r" b="b" t="t" l="l"/>
              <a:pathLst>
                <a:path h="424320" w="915292">
                  <a:moveTo>
                    <a:pt x="212160" y="0"/>
                  </a:moveTo>
                  <a:lnTo>
                    <a:pt x="703132" y="0"/>
                  </a:lnTo>
                  <a:cubicBezTo>
                    <a:pt x="759400" y="0"/>
                    <a:pt x="813364" y="22353"/>
                    <a:pt x="853152" y="62140"/>
                  </a:cubicBezTo>
                  <a:cubicBezTo>
                    <a:pt x="892940" y="101928"/>
                    <a:pt x="915292" y="155892"/>
                    <a:pt x="915292" y="212160"/>
                  </a:cubicBezTo>
                  <a:lnTo>
                    <a:pt x="915292" y="212160"/>
                  </a:lnTo>
                  <a:cubicBezTo>
                    <a:pt x="915292" y="268428"/>
                    <a:pt x="892940" y="322392"/>
                    <a:pt x="853152" y="362180"/>
                  </a:cubicBezTo>
                  <a:cubicBezTo>
                    <a:pt x="813364" y="401968"/>
                    <a:pt x="759400" y="424320"/>
                    <a:pt x="703132" y="424320"/>
                  </a:cubicBezTo>
                  <a:lnTo>
                    <a:pt x="212160" y="424320"/>
                  </a:lnTo>
                  <a:cubicBezTo>
                    <a:pt x="155892" y="424320"/>
                    <a:pt x="101928" y="401968"/>
                    <a:pt x="62140" y="362180"/>
                  </a:cubicBezTo>
                  <a:cubicBezTo>
                    <a:pt x="22353" y="322392"/>
                    <a:pt x="0" y="268428"/>
                    <a:pt x="0" y="212160"/>
                  </a:cubicBezTo>
                  <a:lnTo>
                    <a:pt x="0" y="212160"/>
                  </a:lnTo>
                  <a:cubicBezTo>
                    <a:pt x="0" y="155892"/>
                    <a:pt x="22353" y="101928"/>
                    <a:pt x="62140" y="62140"/>
                  </a:cubicBezTo>
                  <a:cubicBezTo>
                    <a:pt x="101928" y="22353"/>
                    <a:pt x="155892" y="0"/>
                    <a:pt x="212160" y="0"/>
                  </a:cubicBezTo>
                  <a:close/>
                </a:path>
              </a:pathLst>
            </a:custGeom>
            <a:solidFill>
              <a:srgbClr val="FF3131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915292" cy="4528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  <a:r>
                <a:rPr lang="en-US" b="true" sz="1100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 banking application hosted on a brand-new domain with an invalid certificate is flagged as highly suspicious immediately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287734" y="6972892"/>
            <a:ext cx="418802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YES</a:t>
            </a:r>
          </a:p>
        </p:txBody>
      </p:sp>
      <p:sp>
        <p:nvSpPr>
          <p:cNvPr name="AutoShape 36" id="36"/>
          <p:cNvSpPr/>
          <p:nvPr/>
        </p:nvSpPr>
        <p:spPr>
          <a:xfrm>
            <a:off x="1478168" y="3341449"/>
            <a:ext cx="17538" cy="48576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7" id="37"/>
          <p:cNvSpPr/>
          <p:nvPr/>
        </p:nvSpPr>
        <p:spPr>
          <a:xfrm flipH="true">
            <a:off x="1495706" y="4930557"/>
            <a:ext cx="0" cy="67338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8" id="38"/>
          <p:cNvSpPr/>
          <p:nvPr/>
        </p:nvSpPr>
        <p:spPr>
          <a:xfrm>
            <a:off x="1495706" y="5978589"/>
            <a:ext cx="1428" cy="103240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9" id="39"/>
          <p:cNvSpPr/>
          <p:nvPr/>
        </p:nvSpPr>
        <p:spPr>
          <a:xfrm flipH="true">
            <a:off x="1497135" y="7385643"/>
            <a:ext cx="0" cy="57836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0" id="40"/>
          <p:cNvGrpSpPr/>
          <p:nvPr/>
        </p:nvGrpSpPr>
        <p:grpSpPr>
          <a:xfrm rot="0">
            <a:off x="3205155" y="3687593"/>
            <a:ext cx="2642183" cy="1214389"/>
            <a:chOff x="0" y="0"/>
            <a:chExt cx="923206" cy="4243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23206" cy="424320"/>
            </a:xfrm>
            <a:custGeom>
              <a:avLst/>
              <a:gdLst/>
              <a:ahLst/>
              <a:cxnLst/>
              <a:rect r="r" b="b" t="t" l="l"/>
              <a:pathLst>
                <a:path h="424320" w="923206">
                  <a:moveTo>
                    <a:pt x="212160" y="0"/>
                  </a:moveTo>
                  <a:lnTo>
                    <a:pt x="711046" y="0"/>
                  </a:lnTo>
                  <a:cubicBezTo>
                    <a:pt x="767314" y="0"/>
                    <a:pt x="821278" y="22353"/>
                    <a:pt x="861065" y="62140"/>
                  </a:cubicBezTo>
                  <a:cubicBezTo>
                    <a:pt x="900853" y="101928"/>
                    <a:pt x="923206" y="155892"/>
                    <a:pt x="923206" y="212160"/>
                  </a:cubicBezTo>
                  <a:lnTo>
                    <a:pt x="923206" y="212160"/>
                  </a:lnTo>
                  <a:cubicBezTo>
                    <a:pt x="923206" y="268428"/>
                    <a:pt x="900853" y="322392"/>
                    <a:pt x="861065" y="362180"/>
                  </a:cubicBezTo>
                  <a:cubicBezTo>
                    <a:pt x="821278" y="401968"/>
                    <a:pt x="767314" y="424320"/>
                    <a:pt x="711046" y="424320"/>
                  </a:cubicBezTo>
                  <a:lnTo>
                    <a:pt x="212160" y="424320"/>
                  </a:lnTo>
                  <a:cubicBezTo>
                    <a:pt x="155892" y="424320"/>
                    <a:pt x="101928" y="401968"/>
                    <a:pt x="62140" y="362180"/>
                  </a:cubicBezTo>
                  <a:cubicBezTo>
                    <a:pt x="22353" y="322392"/>
                    <a:pt x="0" y="268428"/>
                    <a:pt x="0" y="212160"/>
                  </a:cubicBezTo>
                  <a:lnTo>
                    <a:pt x="0" y="212160"/>
                  </a:lnTo>
                  <a:cubicBezTo>
                    <a:pt x="0" y="155892"/>
                    <a:pt x="22353" y="101928"/>
                    <a:pt x="62140" y="62140"/>
                  </a:cubicBezTo>
                  <a:cubicBezTo>
                    <a:pt x="101928" y="22353"/>
                    <a:pt x="155892" y="0"/>
                    <a:pt x="212160" y="0"/>
                  </a:cubicBezTo>
                  <a:close/>
                </a:path>
              </a:pathLst>
            </a:custGeom>
            <a:solidFill>
              <a:srgbClr val="5CE1E6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923206" cy="471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Androguard </a:t>
              </a:r>
            </a:p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Permission Check 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227019" y="5244882"/>
            <a:ext cx="2642183" cy="838241"/>
            <a:chOff x="0" y="0"/>
            <a:chExt cx="923206" cy="2928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23206" cy="292890"/>
            </a:xfrm>
            <a:custGeom>
              <a:avLst/>
              <a:gdLst/>
              <a:ahLst/>
              <a:cxnLst/>
              <a:rect r="r" b="b" t="t" l="l"/>
              <a:pathLst>
                <a:path h="292890" w="923206">
                  <a:moveTo>
                    <a:pt x="146445" y="0"/>
                  </a:moveTo>
                  <a:lnTo>
                    <a:pt x="776761" y="0"/>
                  </a:lnTo>
                  <a:cubicBezTo>
                    <a:pt x="815600" y="0"/>
                    <a:pt x="852849" y="15429"/>
                    <a:pt x="880313" y="42893"/>
                  </a:cubicBezTo>
                  <a:cubicBezTo>
                    <a:pt x="907777" y="70356"/>
                    <a:pt x="923206" y="107605"/>
                    <a:pt x="923206" y="146445"/>
                  </a:cubicBezTo>
                  <a:lnTo>
                    <a:pt x="923206" y="146445"/>
                  </a:lnTo>
                  <a:cubicBezTo>
                    <a:pt x="923206" y="185285"/>
                    <a:pt x="907777" y="222533"/>
                    <a:pt x="880313" y="249997"/>
                  </a:cubicBezTo>
                  <a:cubicBezTo>
                    <a:pt x="852849" y="277461"/>
                    <a:pt x="815600" y="292890"/>
                    <a:pt x="776761" y="292890"/>
                  </a:cubicBezTo>
                  <a:lnTo>
                    <a:pt x="146445" y="292890"/>
                  </a:lnTo>
                  <a:cubicBezTo>
                    <a:pt x="107605" y="292890"/>
                    <a:pt x="70356" y="277461"/>
                    <a:pt x="42893" y="249997"/>
                  </a:cubicBezTo>
                  <a:cubicBezTo>
                    <a:pt x="15429" y="222533"/>
                    <a:pt x="0" y="185285"/>
                    <a:pt x="0" y="146445"/>
                  </a:cubicBezTo>
                  <a:lnTo>
                    <a:pt x="0" y="146445"/>
                  </a:lnTo>
                  <a:cubicBezTo>
                    <a:pt x="0" y="107605"/>
                    <a:pt x="15429" y="70356"/>
                    <a:pt x="42893" y="42893"/>
                  </a:cubicBezTo>
                  <a:cubicBezTo>
                    <a:pt x="70356" y="15429"/>
                    <a:pt x="107605" y="0"/>
                    <a:pt x="146445" y="0"/>
                  </a:cubicBezTo>
                  <a:close/>
                </a:path>
              </a:pathLst>
            </a:custGeom>
            <a:solidFill>
              <a:srgbClr val="5CE1E6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23206" cy="340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JADX Decompiler 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227019" y="6435548"/>
            <a:ext cx="2642183" cy="1214389"/>
            <a:chOff x="0" y="0"/>
            <a:chExt cx="923206" cy="4243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23206" cy="424320"/>
            </a:xfrm>
            <a:custGeom>
              <a:avLst/>
              <a:gdLst/>
              <a:ahLst/>
              <a:cxnLst/>
              <a:rect r="r" b="b" t="t" l="l"/>
              <a:pathLst>
                <a:path h="424320" w="923206">
                  <a:moveTo>
                    <a:pt x="212160" y="0"/>
                  </a:moveTo>
                  <a:lnTo>
                    <a:pt x="711046" y="0"/>
                  </a:lnTo>
                  <a:cubicBezTo>
                    <a:pt x="767314" y="0"/>
                    <a:pt x="821278" y="22353"/>
                    <a:pt x="861065" y="62140"/>
                  </a:cubicBezTo>
                  <a:cubicBezTo>
                    <a:pt x="900853" y="101928"/>
                    <a:pt x="923206" y="155892"/>
                    <a:pt x="923206" y="212160"/>
                  </a:cubicBezTo>
                  <a:lnTo>
                    <a:pt x="923206" y="212160"/>
                  </a:lnTo>
                  <a:cubicBezTo>
                    <a:pt x="923206" y="268428"/>
                    <a:pt x="900853" y="322392"/>
                    <a:pt x="861065" y="362180"/>
                  </a:cubicBezTo>
                  <a:cubicBezTo>
                    <a:pt x="821278" y="401968"/>
                    <a:pt x="767314" y="424320"/>
                    <a:pt x="711046" y="424320"/>
                  </a:cubicBezTo>
                  <a:lnTo>
                    <a:pt x="212160" y="424320"/>
                  </a:lnTo>
                  <a:cubicBezTo>
                    <a:pt x="155892" y="424320"/>
                    <a:pt x="101928" y="401968"/>
                    <a:pt x="62140" y="362180"/>
                  </a:cubicBezTo>
                  <a:cubicBezTo>
                    <a:pt x="22353" y="322392"/>
                    <a:pt x="0" y="268428"/>
                    <a:pt x="0" y="212160"/>
                  </a:cubicBezTo>
                  <a:lnTo>
                    <a:pt x="0" y="212160"/>
                  </a:lnTo>
                  <a:cubicBezTo>
                    <a:pt x="0" y="155892"/>
                    <a:pt x="22353" y="101928"/>
                    <a:pt x="62140" y="62140"/>
                  </a:cubicBezTo>
                  <a:cubicBezTo>
                    <a:pt x="101928" y="22353"/>
                    <a:pt x="155892" y="0"/>
                    <a:pt x="212160" y="0"/>
                  </a:cubicBezTo>
                  <a:close/>
                </a:path>
              </a:pathLst>
            </a:custGeom>
            <a:solidFill>
              <a:srgbClr val="5CE1E6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23206" cy="471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AI agent 1:</a:t>
              </a:r>
            </a:p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Code analyst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3847762" y="8073118"/>
            <a:ext cx="140069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Safe code?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595586" y="8994775"/>
            <a:ext cx="418802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YES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124882" y="9004300"/>
            <a:ext cx="315888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411635" y="9691400"/>
            <a:ext cx="78670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report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726618" y="9691400"/>
            <a:ext cx="111241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Continue</a:t>
            </a:r>
          </a:p>
        </p:txBody>
      </p:sp>
      <p:sp>
        <p:nvSpPr>
          <p:cNvPr name="AutoShape 54" id="54"/>
          <p:cNvSpPr/>
          <p:nvPr/>
        </p:nvSpPr>
        <p:spPr>
          <a:xfrm>
            <a:off x="4526246" y="3341449"/>
            <a:ext cx="0" cy="3461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5" id="55"/>
          <p:cNvSpPr/>
          <p:nvPr/>
        </p:nvSpPr>
        <p:spPr>
          <a:xfrm flipH="true">
            <a:off x="3804987" y="8485869"/>
            <a:ext cx="743123" cy="5470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6" id="56"/>
          <p:cNvSpPr/>
          <p:nvPr/>
        </p:nvSpPr>
        <p:spPr>
          <a:xfrm>
            <a:off x="4548110" y="7649937"/>
            <a:ext cx="0" cy="46128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7" id="57"/>
          <p:cNvSpPr/>
          <p:nvPr/>
        </p:nvSpPr>
        <p:spPr>
          <a:xfrm>
            <a:off x="4548110" y="6083123"/>
            <a:ext cx="0" cy="3524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8" id="58"/>
          <p:cNvSpPr/>
          <p:nvPr/>
        </p:nvSpPr>
        <p:spPr>
          <a:xfrm>
            <a:off x="4526246" y="4901982"/>
            <a:ext cx="21864" cy="3429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9" id="59"/>
          <p:cNvSpPr/>
          <p:nvPr/>
        </p:nvSpPr>
        <p:spPr>
          <a:xfrm>
            <a:off x="5282826" y="9417050"/>
            <a:ext cx="0" cy="3124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0" id="60"/>
          <p:cNvSpPr/>
          <p:nvPr/>
        </p:nvSpPr>
        <p:spPr>
          <a:xfrm>
            <a:off x="3804987" y="9407525"/>
            <a:ext cx="0" cy="32197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1" id="61"/>
          <p:cNvSpPr/>
          <p:nvPr/>
        </p:nvSpPr>
        <p:spPr>
          <a:xfrm>
            <a:off x="4548110" y="8485869"/>
            <a:ext cx="734716" cy="55653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62" id="62"/>
          <p:cNvGrpSpPr/>
          <p:nvPr/>
        </p:nvGrpSpPr>
        <p:grpSpPr>
          <a:xfrm rot="0">
            <a:off x="6249785" y="3827217"/>
            <a:ext cx="2642183" cy="691295"/>
            <a:chOff x="0" y="0"/>
            <a:chExt cx="923206" cy="24154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23206" cy="241545"/>
            </a:xfrm>
            <a:custGeom>
              <a:avLst/>
              <a:gdLst/>
              <a:ahLst/>
              <a:cxnLst/>
              <a:rect r="r" b="b" t="t" l="l"/>
              <a:pathLst>
                <a:path h="241545" w="923206">
                  <a:moveTo>
                    <a:pt x="120773" y="0"/>
                  </a:moveTo>
                  <a:lnTo>
                    <a:pt x="802433" y="0"/>
                  </a:lnTo>
                  <a:cubicBezTo>
                    <a:pt x="834464" y="0"/>
                    <a:pt x="865183" y="12724"/>
                    <a:pt x="887832" y="35374"/>
                  </a:cubicBezTo>
                  <a:cubicBezTo>
                    <a:pt x="910481" y="58023"/>
                    <a:pt x="923206" y="88742"/>
                    <a:pt x="923206" y="120773"/>
                  </a:cubicBezTo>
                  <a:lnTo>
                    <a:pt x="923206" y="120773"/>
                  </a:lnTo>
                  <a:cubicBezTo>
                    <a:pt x="923206" y="152804"/>
                    <a:pt x="910481" y="183523"/>
                    <a:pt x="887832" y="206172"/>
                  </a:cubicBezTo>
                  <a:cubicBezTo>
                    <a:pt x="865183" y="228821"/>
                    <a:pt x="834464" y="241545"/>
                    <a:pt x="802433" y="241545"/>
                  </a:cubicBezTo>
                  <a:lnTo>
                    <a:pt x="120773" y="241545"/>
                  </a:lnTo>
                  <a:cubicBezTo>
                    <a:pt x="88742" y="241545"/>
                    <a:pt x="58023" y="228821"/>
                    <a:pt x="35374" y="206172"/>
                  </a:cubicBezTo>
                  <a:cubicBezTo>
                    <a:pt x="12724" y="183523"/>
                    <a:pt x="0" y="152804"/>
                    <a:pt x="0" y="120773"/>
                  </a:cubicBezTo>
                  <a:lnTo>
                    <a:pt x="0" y="120773"/>
                  </a:lnTo>
                  <a:cubicBezTo>
                    <a:pt x="0" y="88742"/>
                    <a:pt x="12724" y="58023"/>
                    <a:pt x="35374" y="35374"/>
                  </a:cubicBezTo>
                  <a:cubicBezTo>
                    <a:pt x="58023" y="12724"/>
                    <a:pt x="88742" y="0"/>
                    <a:pt x="120773" y="0"/>
                  </a:cubicBezTo>
                  <a:close/>
                </a:path>
              </a:pathLst>
            </a:custGeom>
            <a:solidFill>
              <a:srgbClr val="5CE1E6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23206" cy="28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SHA256 Hash  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269252" y="5220548"/>
            <a:ext cx="2642183" cy="691295"/>
            <a:chOff x="0" y="0"/>
            <a:chExt cx="923206" cy="24154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23206" cy="241545"/>
            </a:xfrm>
            <a:custGeom>
              <a:avLst/>
              <a:gdLst/>
              <a:ahLst/>
              <a:cxnLst/>
              <a:rect r="r" b="b" t="t" l="l"/>
              <a:pathLst>
                <a:path h="241545" w="923206">
                  <a:moveTo>
                    <a:pt x="120773" y="0"/>
                  </a:moveTo>
                  <a:lnTo>
                    <a:pt x="802433" y="0"/>
                  </a:lnTo>
                  <a:cubicBezTo>
                    <a:pt x="834464" y="0"/>
                    <a:pt x="865183" y="12724"/>
                    <a:pt x="887832" y="35374"/>
                  </a:cubicBezTo>
                  <a:cubicBezTo>
                    <a:pt x="910481" y="58023"/>
                    <a:pt x="923206" y="88742"/>
                    <a:pt x="923206" y="120773"/>
                  </a:cubicBezTo>
                  <a:lnTo>
                    <a:pt x="923206" y="120773"/>
                  </a:lnTo>
                  <a:cubicBezTo>
                    <a:pt x="923206" y="152804"/>
                    <a:pt x="910481" y="183523"/>
                    <a:pt x="887832" y="206172"/>
                  </a:cubicBezTo>
                  <a:cubicBezTo>
                    <a:pt x="865183" y="228821"/>
                    <a:pt x="834464" y="241545"/>
                    <a:pt x="802433" y="241545"/>
                  </a:cubicBezTo>
                  <a:lnTo>
                    <a:pt x="120773" y="241545"/>
                  </a:lnTo>
                  <a:cubicBezTo>
                    <a:pt x="88742" y="241545"/>
                    <a:pt x="58023" y="228821"/>
                    <a:pt x="35374" y="206172"/>
                  </a:cubicBezTo>
                  <a:cubicBezTo>
                    <a:pt x="12724" y="183523"/>
                    <a:pt x="0" y="152804"/>
                    <a:pt x="0" y="120773"/>
                  </a:cubicBezTo>
                  <a:lnTo>
                    <a:pt x="0" y="120773"/>
                  </a:lnTo>
                  <a:cubicBezTo>
                    <a:pt x="0" y="88742"/>
                    <a:pt x="12724" y="58023"/>
                    <a:pt x="35374" y="35374"/>
                  </a:cubicBezTo>
                  <a:cubicBezTo>
                    <a:pt x="58023" y="12724"/>
                    <a:pt x="88742" y="0"/>
                    <a:pt x="120773" y="0"/>
                  </a:cubicBezTo>
                  <a:close/>
                </a:path>
              </a:pathLst>
            </a:custGeom>
            <a:solidFill>
              <a:srgbClr val="5CE1E6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923206" cy="28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VirusTotal Lookup 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6648285" y="7887770"/>
            <a:ext cx="418802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YES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8177581" y="7897295"/>
            <a:ext cx="315888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No</a:t>
            </a:r>
          </a:p>
        </p:txBody>
      </p:sp>
      <p:sp>
        <p:nvSpPr>
          <p:cNvPr name="AutoShape 70" id="70"/>
          <p:cNvSpPr/>
          <p:nvPr/>
        </p:nvSpPr>
        <p:spPr>
          <a:xfrm flipH="true">
            <a:off x="6857686" y="7282981"/>
            <a:ext cx="732657" cy="64288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1" id="71"/>
          <p:cNvSpPr/>
          <p:nvPr/>
        </p:nvSpPr>
        <p:spPr>
          <a:xfrm>
            <a:off x="7590343" y="7282981"/>
            <a:ext cx="745182" cy="6524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72" id="72"/>
          <p:cNvSpPr txBox="true"/>
          <p:nvPr/>
        </p:nvSpPr>
        <p:spPr>
          <a:xfrm rot="0">
            <a:off x="6464569" y="8584394"/>
            <a:ext cx="78670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report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779553" y="8584394"/>
            <a:ext cx="111241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Continue</a:t>
            </a:r>
          </a:p>
        </p:txBody>
      </p:sp>
      <p:sp>
        <p:nvSpPr>
          <p:cNvPr name="AutoShape 74" id="74"/>
          <p:cNvSpPr/>
          <p:nvPr/>
        </p:nvSpPr>
        <p:spPr>
          <a:xfrm>
            <a:off x="8300452" y="8241359"/>
            <a:ext cx="35309" cy="38113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5" id="75"/>
          <p:cNvSpPr/>
          <p:nvPr/>
        </p:nvSpPr>
        <p:spPr>
          <a:xfrm>
            <a:off x="6857922" y="8258315"/>
            <a:ext cx="0" cy="3641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6" id="76"/>
          <p:cNvGrpSpPr/>
          <p:nvPr/>
        </p:nvGrpSpPr>
        <p:grpSpPr>
          <a:xfrm rot="0">
            <a:off x="6194397" y="6613879"/>
            <a:ext cx="2791892" cy="669101"/>
            <a:chOff x="0" y="0"/>
            <a:chExt cx="915292" cy="21935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15292" cy="219358"/>
            </a:xfrm>
            <a:custGeom>
              <a:avLst/>
              <a:gdLst/>
              <a:ahLst/>
              <a:cxnLst/>
              <a:rect r="r" b="b" t="t" l="l"/>
              <a:pathLst>
                <a:path h="219358" w="915292">
                  <a:moveTo>
                    <a:pt x="109679" y="0"/>
                  </a:moveTo>
                  <a:lnTo>
                    <a:pt x="805613" y="0"/>
                  </a:lnTo>
                  <a:cubicBezTo>
                    <a:pt x="834702" y="0"/>
                    <a:pt x="862599" y="11555"/>
                    <a:pt x="883168" y="32124"/>
                  </a:cubicBezTo>
                  <a:cubicBezTo>
                    <a:pt x="903737" y="52693"/>
                    <a:pt x="915292" y="80590"/>
                    <a:pt x="915292" y="109679"/>
                  </a:cubicBezTo>
                  <a:lnTo>
                    <a:pt x="915292" y="109679"/>
                  </a:lnTo>
                  <a:cubicBezTo>
                    <a:pt x="915292" y="170253"/>
                    <a:pt x="866187" y="219358"/>
                    <a:pt x="805613" y="219358"/>
                  </a:cubicBezTo>
                  <a:lnTo>
                    <a:pt x="109679" y="219358"/>
                  </a:lnTo>
                  <a:cubicBezTo>
                    <a:pt x="80590" y="219358"/>
                    <a:pt x="52693" y="207802"/>
                    <a:pt x="32124" y="187234"/>
                  </a:cubicBezTo>
                  <a:cubicBezTo>
                    <a:pt x="11555" y="166665"/>
                    <a:pt x="0" y="138768"/>
                    <a:pt x="0" y="109679"/>
                  </a:cubicBezTo>
                  <a:lnTo>
                    <a:pt x="0" y="109679"/>
                  </a:lnTo>
                  <a:cubicBezTo>
                    <a:pt x="0" y="80590"/>
                    <a:pt x="11555" y="52693"/>
                    <a:pt x="32124" y="32124"/>
                  </a:cubicBezTo>
                  <a:cubicBezTo>
                    <a:pt x="52693" y="11555"/>
                    <a:pt x="80590" y="0"/>
                    <a:pt x="109679" y="0"/>
                  </a:cubicBezTo>
                  <a:close/>
                </a:path>
              </a:pathLst>
            </a:custGeom>
            <a:solidFill>
              <a:srgbClr val="FF3131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915292" cy="266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Known malware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311485" y="3765308"/>
            <a:ext cx="2642183" cy="691295"/>
            <a:chOff x="0" y="0"/>
            <a:chExt cx="923206" cy="24154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23206" cy="241545"/>
            </a:xfrm>
            <a:custGeom>
              <a:avLst/>
              <a:gdLst/>
              <a:ahLst/>
              <a:cxnLst/>
              <a:rect r="r" b="b" t="t" l="l"/>
              <a:pathLst>
                <a:path h="241545" w="923206">
                  <a:moveTo>
                    <a:pt x="120773" y="0"/>
                  </a:moveTo>
                  <a:lnTo>
                    <a:pt x="802433" y="0"/>
                  </a:lnTo>
                  <a:cubicBezTo>
                    <a:pt x="834464" y="0"/>
                    <a:pt x="865183" y="12724"/>
                    <a:pt x="887832" y="35374"/>
                  </a:cubicBezTo>
                  <a:cubicBezTo>
                    <a:pt x="910481" y="58023"/>
                    <a:pt x="923206" y="88742"/>
                    <a:pt x="923206" y="120773"/>
                  </a:cubicBezTo>
                  <a:lnTo>
                    <a:pt x="923206" y="120773"/>
                  </a:lnTo>
                  <a:cubicBezTo>
                    <a:pt x="923206" y="152804"/>
                    <a:pt x="910481" y="183523"/>
                    <a:pt x="887832" y="206172"/>
                  </a:cubicBezTo>
                  <a:cubicBezTo>
                    <a:pt x="865183" y="228821"/>
                    <a:pt x="834464" y="241545"/>
                    <a:pt x="802433" y="241545"/>
                  </a:cubicBezTo>
                  <a:lnTo>
                    <a:pt x="120773" y="241545"/>
                  </a:lnTo>
                  <a:cubicBezTo>
                    <a:pt x="88742" y="241545"/>
                    <a:pt x="58023" y="228821"/>
                    <a:pt x="35374" y="206172"/>
                  </a:cubicBezTo>
                  <a:cubicBezTo>
                    <a:pt x="12724" y="183523"/>
                    <a:pt x="0" y="152804"/>
                    <a:pt x="0" y="120773"/>
                  </a:cubicBezTo>
                  <a:lnTo>
                    <a:pt x="0" y="120773"/>
                  </a:lnTo>
                  <a:cubicBezTo>
                    <a:pt x="0" y="88742"/>
                    <a:pt x="12724" y="58023"/>
                    <a:pt x="35374" y="35374"/>
                  </a:cubicBezTo>
                  <a:cubicBezTo>
                    <a:pt x="58023" y="12724"/>
                    <a:pt x="88742" y="0"/>
                    <a:pt x="120773" y="0"/>
                  </a:cubicBezTo>
                  <a:close/>
                </a:path>
              </a:pathLst>
            </a:custGeom>
            <a:solidFill>
              <a:srgbClr val="5CE1E6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923206" cy="28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YARA Rules 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311485" y="4806370"/>
            <a:ext cx="2642183" cy="1008469"/>
            <a:chOff x="0" y="0"/>
            <a:chExt cx="923206" cy="35236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23206" cy="352369"/>
            </a:xfrm>
            <a:custGeom>
              <a:avLst/>
              <a:gdLst/>
              <a:ahLst/>
              <a:cxnLst/>
              <a:rect r="r" b="b" t="t" l="l"/>
              <a:pathLst>
                <a:path h="352369" w="923206">
                  <a:moveTo>
                    <a:pt x="176185" y="0"/>
                  </a:moveTo>
                  <a:lnTo>
                    <a:pt x="747021" y="0"/>
                  </a:lnTo>
                  <a:cubicBezTo>
                    <a:pt x="793748" y="0"/>
                    <a:pt x="838561" y="18562"/>
                    <a:pt x="871602" y="51603"/>
                  </a:cubicBezTo>
                  <a:cubicBezTo>
                    <a:pt x="904643" y="84644"/>
                    <a:pt x="923206" y="129458"/>
                    <a:pt x="923206" y="176185"/>
                  </a:cubicBezTo>
                  <a:lnTo>
                    <a:pt x="923206" y="176185"/>
                  </a:lnTo>
                  <a:cubicBezTo>
                    <a:pt x="923206" y="273489"/>
                    <a:pt x="844325" y="352369"/>
                    <a:pt x="747021" y="352369"/>
                  </a:cubicBezTo>
                  <a:lnTo>
                    <a:pt x="176185" y="352369"/>
                  </a:lnTo>
                  <a:cubicBezTo>
                    <a:pt x="78881" y="352369"/>
                    <a:pt x="0" y="273489"/>
                    <a:pt x="0" y="176185"/>
                  </a:cubicBezTo>
                  <a:lnTo>
                    <a:pt x="0" y="176185"/>
                  </a:lnTo>
                  <a:cubicBezTo>
                    <a:pt x="0" y="78881"/>
                    <a:pt x="78881" y="0"/>
                    <a:pt x="176185" y="0"/>
                  </a:cubicBezTo>
                  <a:close/>
                </a:path>
              </a:pathLst>
            </a:custGeom>
            <a:solidFill>
              <a:srgbClr val="5CE1E6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923206" cy="399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MITRE ATT&amp;CK Mobile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318428" y="6191073"/>
            <a:ext cx="2642183" cy="1214389"/>
            <a:chOff x="0" y="0"/>
            <a:chExt cx="923206" cy="4243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23206" cy="424320"/>
            </a:xfrm>
            <a:custGeom>
              <a:avLst/>
              <a:gdLst/>
              <a:ahLst/>
              <a:cxnLst/>
              <a:rect r="r" b="b" t="t" l="l"/>
              <a:pathLst>
                <a:path h="424320" w="923206">
                  <a:moveTo>
                    <a:pt x="212160" y="0"/>
                  </a:moveTo>
                  <a:lnTo>
                    <a:pt x="711046" y="0"/>
                  </a:lnTo>
                  <a:cubicBezTo>
                    <a:pt x="767314" y="0"/>
                    <a:pt x="821278" y="22353"/>
                    <a:pt x="861065" y="62140"/>
                  </a:cubicBezTo>
                  <a:cubicBezTo>
                    <a:pt x="900853" y="101928"/>
                    <a:pt x="923206" y="155892"/>
                    <a:pt x="923206" y="212160"/>
                  </a:cubicBezTo>
                  <a:lnTo>
                    <a:pt x="923206" y="212160"/>
                  </a:lnTo>
                  <a:cubicBezTo>
                    <a:pt x="923206" y="268428"/>
                    <a:pt x="900853" y="322392"/>
                    <a:pt x="861065" y="362180"/>
                  </a:cubicBezTo>
                  <a:cubicBezTo>
                    <a:pt x="821278" y="401968"/>
                    <a:pt x="767314" y="424320"/>
                    <a:pt x="711046" y="424320"/>
                  </a:cubicBezTo>
                  <a:lnTo>
                    <a:pt x="212160" y="424320"/>
                  </a:lnTo>
                  <a:cubicBezTo>
                    <a:pt x="155892" y="424320"/>
                    <a:pt x="101928" y="401968"/>
                    <a:pt x="62140" y="362180"/>
                  </a:cubicBezTo>
                  <a:cubicBezTo>
                    <a:pt x="22353" y="322392"/>
                    <a:pt x="0" y="268428"/>
                    <a:pt x="0" y="212160"/>
                  </a:cubicBezTo>
                  <a:lnTo>
                    <a:pt x="0" y="212160"/>
                  </a:lnTo>
                  <a:cubicBezTo>
                    <a:pt x="0" y="155892"/>
                    <a:pt x="22353" y="101928"/>
                    <a:pt x="62140" y="62140"/>
                  </a:cubicBezTo>
                  <a:cubicBezTo>
                    <a:pt x="101928" y="22353"/>
                    <a:pt x="155892" y="0"/>
                    <a:pt x="212160" y="0"/>
                  </a:cubicBezTo>
                  <a:close/>
                </a:path>
              </a:pathLst>
            </a:custGeom>
            <a:solidFill>
              <a:srgbClr val="5CE1E6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923206" cy="471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AI agent 2:</a:t>
              </a:r>
            </a:p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Pattern Corelator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567215" y="7710262"/>
            <a:ext cx="2144609" cy="669101"/>
            <a:chOff x="0" y="0"/>
            <a:chExt cx="703087" cy="21935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03087" cy="219358"/>
            </a:xfrm>
            <a:custGeom>
              <a:avLst/>
              <a:gdLst/>
              <a:ahLst/>
              <a:cxnLst/>
              <a:rect r="r" b="b" t="t" l="l"/>
              <a:pathLst>
                <a:path h="219358" w="703087">
                  <a:moveTo>
                    <a:pt x="109679" y="0"/>
                  </a:moveTo>
                  <a:lnTo>
                    <a:pt x="593408" y="0"/>
                  </a:lnTo>
                  <a:cubicBezTo>
                    <a:pt x="622497" y="0"/>
                    <a:pt x="650394" y="11555"/>
                    <a:pt x="670963" y="32124"/>
                  </a:cubicBezTo>
                  <a:cubicBezTo>
                    <a:pt x="691532" y="52693"/>
                    <a:pt x="703087" y="80590"/>
                    <a:pt x="703087" y="109679"/>
                  </a:cubicBezTo>
                  <a:lnTo>
                    <a:pt x="703087" y="109679"/>
                  </a:lnTo>
                  <a:cubicBezTo>
                    <a:pt x="703087" y="170253"/>
                    <a:pt x="653982" y="219358"/>
                    <a:pt x="593408" y="219358"/>
                  </a:cubicBezTo>
                  <a:lnTo>
                    <a:pt x="109679" y="219358"/>
                  </a:lnTo>
                  <a:cubicBezTo>
                    <a:pt x="80590" y="219358"/>
                    <a:pt x="52693" y="207802"/>
                    <a:pt x="32124" y="187234"/>
                  </a:cubicBezTo>
                  <a:cubicBezTo>
                    <a:pt x="11555" y="166665"/>
                    <a:pt x="0" y="138768"/>
                    <a:pt x="0" y="109679"/>
                  </a:cubicBezTo>
                  <a:lnTo>
                    <a:pt x="0" y="109679"/>
                  </a:lnTo>
                  <a:cubicBezTo>
                    <a:pt x="0" y="80590"/>
                    <a:pt x="11555" y="52693"/>
                    <a:pt x="32124" y="32124"/>
                  </a:cubicBezTo>
                  <a:cubicBezTo>
                    <a:pt x="52693" y="11555"/>
                    <a:pt x="80590" y="0"/>
                    <a:pt x="109679" y="0"/>
                  </a:cubicBezTo>
                  <a:close/>
                </a:path>
              </a:pathLst>
            </a:custGeom>
            <a:solidFill>
              <a:srgbClr val="FF3131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703087" cy="266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High risk?</a:t>
              </a: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9709984" y="8766957"/>
            <a:ext cx="418802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YES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1239280" y="8776482"/>
            <a:ext cx="315888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No</a:t>
            </a:r>
          </a:p>
        </p:txBody>
      </p:sp>
      <p:sp>
        <p:nvSpPr>
          <p:cNvPr name="AutoShape 93" id="93"/>
          <p:cNvSpPr/>
          <p:nvPr/>
        </p:nvSpPr>
        <p:spPr>
          <a:xfrm flipH="true">
            <a:off x="9919386" y="8370284"/>
            <a:ext cx="727007" cy="4347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4" id="94"/>
          <p:cNvSpPr/>
          <p:nvPr/>
        </p:nvSpPr>
        <p:spPr>
          <a:xfrm>
            <a:off x="10646393" y="8370284"/>
            <a:ext cx="750832" cy="444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95" id="95"/>
          <p:cNvSpPr txBox="true"/>
          <p:nvPr/>
        </p:nvSpPr>
        <p:spPr>
          <a:xfrm rot="0">
            <a:off x="9434174" y="9436883"/>
            <a:ext cx="959123" cy="753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dynamic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analysis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0998457" y="9671698"/>
            <a:ext cx="78670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report</a:t>
            </a:r>
          </a:p>
        </p:txBody>
      </p:sp>
      <p:sp>
        <p:nvSpPr>
          <p:cNvPr name="AutoShape 97" id="97"/>
          <p:cNvSpPr/>
          <p:nvPr/>
        </p:nvSpPr>
        <p:spPr>
          <a:xfrm flipH="true">
            <a:off x="11391810" y="9189233"/>
            <a:ext cx="5414" cy="52056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8" id="98"/>
          <p:cNvSpPr/>
          <p:nvPr/>
        </p:nvSpPr>
        <p:spPr>
          <a:xfrm>
            <a:off x="9919386" y="9179708"/>
            <a:ext cx="35447" cy="3935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9" id="99"/>
          <p:cNvGrpSpPr/>
          <p:nvPr/>
        </p:nvGrpSpPr>
        <p:grpSpPr>
          <a:xfrm rot="0">
            <a:off x="12339047" y="3799396"/>
            <a:ext cx="2642183" cy="691295"/>
            <a:chOff x="0" y="0"/>
            <a:chExt cx="923206" cy="24154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23206" cy="241545"/>
            </a:xfrm>
            <a:custGeom>
              <a:avLst/>
              <a:gdLst/>
              <a:ahLst/>
              <a:cxnLst/>
              <a:rect r="r" b="b" t="t" l="l"/>
              <a:pathLst>
                <a:path h="241545" w="923206">
                  <a:moveTo>
                    <a:pt x="120773" y="0"/>
                  </a:moveTo>
                  <a:lnTo>
                    <a:pt x="802433" y="0"/>
                  </a:lnTo>
                  <a:cubicBezTo>
                    <a:pt x="834464" y="0"/>
                    <a:pt x="865183" y="12724"/>
                    <a:pt x="887832" y="35374"/>
                  </a:cubicBezTo>
                  <a:cubicBezTo>
                    <a:pt x="910481" y="58023"/>
                    <a:pt x="923206" y="88742"/>
                    <a:pt x="923206" y="120773"/>
                  </a:cubicBezTo>
                  <a:lnTo>
                    <a:pt x="923206" y="120773"/>
                  </a:lnTo>
                  <a:cubicBezTo>
                    <a:pt x="923206" y="152804"/>
                    <a:pt x="910481" y="183523"/>
                    <a:pt x="887832" y="206172"/>
                  </a:cubicBezTo>
                  <a:cubicBezTo>
                    <a:pt x="865183" y="228821"/>
                    <a:pt x="834464" y="241545"/>
                    <a:pt x="802433" y="241545"/>
                  </a:cubicBezTo>
                  <a:lnTo>
                    <a:pt x="120773" y="241545"/>
                  </a:lnTo>
                  <a:cubicBezTo>
                    <a:pt x="88742" y="241545"/>
                    <a:pt x="58023" y="228821"/>
                    <a:pt x="35374" y="206172"/>
                  </a:cubicBezTo>
                  <a:cubicBezTo>
                    <a:pt x="12724" y="183523"/>
                    <a:pt x="0" y="152804"/>
                    <a:pt x="0" y="120773"/>
                  </a:cubicBezTo>
                  <a:lnTo>
                    <a:pt x="0" y="120773"/>
                  </a:lnTo>
                  <a:cubicBezTo>
                    <a:pt x="0" y="88742"/>
                    <a:pt x="12724" y="58023"/>
                    <a:pt x="35374" y="35374"/>
                  </a:cubicBezTo>
                  <a:cubicBezTo>
                    <a:pt x="58023" y="12724"/>
                    <a:pt x="88742" y="0"/>
                    <a:pt x="120773" y="0"/>
                  </a:cubicBezTo>
                  <a:close/>
                </a:path>
              </a:pathLst>
            </a:custGeom>
            <a:solidFill>
              <a:srgbClr val="5CE1E6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923206" cy="28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 Android Emulator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334668" y="4919316"/>
            <a:ext cx="2642183" cy="691295"/>
            <a:chOff x="0" y="0"/>
            <a:chExt cx="923206" cy="241545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23206" cy="241545"/>
            </a:xfrm>
            <a:custGeom>
              <a:avLst/>
              <a:gdLst/>
              <a:ahLst/>
              <a:cxnLst/>
              <a:rect r="r" b="b" t="t" l="l"/>
              <a:pathLst>
                <a:path h="241545" w="923206">
                  <a:moveTo>
                    <a:pt x="120773" y="0"/>
                  </a:moveTo>
                  <a:lnTo>
                    <a:pt x="802433" y="0"/>
                  </a:lnTo>
                  <a:cubicBezTo>
                    <a:pt x="834464" y="0"/>
                    <a:pt x="865183" y="12724"/>
                    <a:pt x="887832" y="35374"/>
                  </a:cubicBezTo>
                  <a:cubicBezTo>
                    <a:pt x="910481" y="58023"/>
                    <a:pt x="923206" y="88742"/>
                    <a:pt x="923206" y="120773"/>
                  </a:cubicBezTo>
                  <a:lnTo>
                    <a:pt x="923206" y="120773"/>
                  </a:lnTo>
                  <a:cubicBezTo>
                    <a:pt x="923206" y="152804"/>
                    <a:pt x="910481" y="183523"/>
                    <a:pt x="887832" y="206172"/>
                  </a:cubicBezTo>
                  <a:cubicBezTo>
                    <a:pt x="865183" y="228821"/>
                    <a:pt x="834464" y="241545"/>
                    <a:pt x="802433" y="241545"/>
                  </a:cubicBezTo>
                  <a:lnTo>
                    <a:pt x="120773" y="241545"/>
                  </a:lnTo>
                  <a:cubicBezTo>
                    <a:pt x="88742" y="241545"/>
                    <a:pt x="58023" y="228821"/>
                    <a:pt x="35374" y="206172"/>
                  </a:cubicBezTo>
                  <a:cubicBezTo>
                    <a:pt x="12724" y="183523"/>
                    <a:pt x="0" y="152804"/>
                    <a:pt x="0" y="120773"/>
                  </a:cubicBezTo>
                  <a:lnTo>
                    <a:pt x="0" y="120773"/>
                  </a:lnTo>
                  <a:cubicBezTo>
                    <a:pt x="0" y="88742"/>
                    <a:pt x="12724" y="58023"/>
                    <a:pt x="35374" y="35374"/>
                  </a:cubicBezTo>
                  <a:cubicBezTo>
                    <a:pt x="58023" y="12724"/>
                    <a:pt x="88742" y="0"/>
                    <a:pt x="120773" y="0"/>
                  </a:cubicBezTo>
                  <a:close/>
                </a:path>
              </a:pathLst>
            </a:custGeom>
            <a:solidFill>
              <a:srgbClr val="5CE1E6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4" id="104"/>
            <p:cNvSpPr txBox="true"/>
            <p:nvPr/>
          </p:nvSpPr>
          <p:spPr>
            <a:xfrm>
              <a:off x="0" y="-47625"/>
              <a:ext cx="923206" cy="28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Monkey Testing 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339047" y="6029710"/>
            <a:ext cx="2642183" cy="691295"/>
            <a:chOff x="0" y="0"/>
            <a:chExt cx="923206" cy="241545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23206" cy="241545"/>
            </a:xfrm>
            <a:custGeom>
              <a:avLst/>
              <a:gdLst/>
              <a:ahLst/>
              <a:cxnLst/>
              <a:rect r="r" b="b" t="t" l="l"/>
              <a:pathLst>
                <a:path h="241545" w="923206">
                  <a:moveTo>
                    <a:pt x="120773" y="0"/>
                  </a:moveTo>
                  <a:lnTo>
                    <a:pt x="802433" y="0"/>
                  </a:lnTo>
                  <a:cubicBezTo>
                    <a:pt x="834464" y="0"/>
                    <a:pt x="865183" y="12724"/>
                    <a:pt x="887832" y="35374"/>
                  </a:cubicBezTo>
                  <a:cubicBezTo>
                    <a:pt x="910481" y="58023"/>
                    <a:pt x="923206" y="88742"/>
                    <a:pt x="923206" y="120773"/>
                  </a:cubicBezTo>
                  <a:lnTo>
                    <a:pt x="923206" y="120773"/>
                  </a:lnTo>
                  <a:cubicBezTo>
                    <a:pt x="923206" y="152804"/>
                    <a:pt x="910481" y="183523"/>
                    <a:pt x="887832" y="206172"/>
                  </a:cubicBezTo>
                  <a:cubicBezTo>
                    <a:pt x="865183" y="228821"/>
                    <a:pt x="834464" y="241545"/>
                    <a:pt x="802433" y="241545"/>
                  </a:cubicBezTo>
                  <a:lnTo>
                    <a:pt x="120773" y="241545"/>
                  </a:lnTo>
                  <a:cubicBezTo>
                    <a:pt x="88742" y="241545"/>
                    <a:pt x="58023" y="228821"/>
                    <a:pt x="35374" y="206172"/>
                  </a:cubicBezTo>
                  <a:cubicBezTo>
                    <a:pt x="12724" y="183523"/>
                    <a:pt x="0" y="152804"/>
                    <a:pt x="0" y="120773"/>
                  </a:cubicBezTo>
                  <a:lnTo>
                    <a:pt x="0" y="120773"/>
                  </a:lnTo>
                  <a:cubicBezTo>
                    <a:pt x="0" y="88742"/>
                    <a:pt x="12724" y="58023"/>
                    <a:pt x="35374" y="35374"/>
                  </a:cubicBezTo>
                  <a:cubicBezTo>
                    <a:pt x="58023" y="12724"/>
                    <a:pt x="88742" y="0"/>
                    <a:pt x="120773" y="0"/>
                  </a:cubicBezTo>
                  <a:close/>
                </a:path>
              </a:pathLst>
            </a:custGeom>
            <a:solidFill>
              <a:srgbClr val="5CE1E6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923206" cy="289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Frida Monitoring 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2344193" y="7150692"/>
            <a:ext cx="2642183" cy="1214389"/>
            <a:chOff x="0" y="0"/>
            <a:chExt cx="923206" cy="42432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23206" cy="424320"/>
            </a:xfrm>
            <a:custGeom>
              <a:avLst/>
              <a:gdLst/>
              <a:ahLst/>
              <a:cxnLst/>
              <a:rect r="r" b="b" t="t" l="l"/>
              <a:pathLst>
                <a:path h="424320" w="923206">
                  <a:moveTo>
                    <a:pt x="212160" y="0"/>
                  </a:moveTo>
                  <a:lnTo>
                    <a:pt x="711046" y="0"/>
                  </a:lnTo>
                  <a:cubicBezTo>
                    <a:pt x="767314" y="0"/>
                    <a:pt x="821278" y="22353"/>
                    <a:pt x="861065" y="62140"/>
                  </a:cubicBezTo>
                  <a:cubicBezTo>
                    <a:pt x="900853" y="101928"/>
                    <a:pt x="923206" y="155892"/>
                    <a:pt x="923206" y="212160"/>
                  </a:cubicBezTo>
                  <a:lnTo>
                    <a:pt x="923206" y="212160"/>
                  </a:lnTo>
                  <a:cubicBezTo>
                    <a:pt x="923206" y="268428"/>
                    <a:pt x="900853" y="322392"/>
                    <a:pt x="861065" y="362180"/>
                  </a:cubicBezTo>
                  <a:cubicBezTo>
                    <a:pt x="821278" y="401968"/>
                    <a:pt x="767314" y="424320"/>
                    <a:pt x="711046" y="424320"/>
                  </a:cubicBezTo>
                  <a:lnTo>
                    <a:pt x="212160" y="424320"/>
                  </a:lnTo>
                  <a:cubicBezTo>
                    <a:pt x="155892" y="424320"/>
                    <a:pt x="101928" y="401968"/>
                    <a:pt x="62140" y="362180"/>
                  </a:cubicBezTo>
                  <a:cubicBezTo>
                    <a:pt x="22353" y="322392"/>
                    <a:pt x="0" y="268428"/>
                    <a:pt x="0" y="212160"/>
                  </a:cubicBezTo>
                  <a:lnTo>
                    <a:pt x="0" y="212160"/>
                  </a:lnTo>
                  <a:cubicBezTo>
                    <a:pt x="0" y="155892"/>
                    <a:pt x="22353" y="101928"/>
                    <a:pt x="62140" y="62140"/>
                  </a:cubicBezTo>
                  <a:cubicBezTo>
                    <a:pt x="101928" y="22353"/>
                    <a:pt x="155892" y="0"/>
                    <a:pt x="212160" y="0"/>
                  </a:cubicBezTo>
                  <a:close/>
                </a:path>
              </a:pathLst>
            </a:custGeom>
            <a:solidFill>
              <a:srgbClr val="5CE1E6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923206" cy="471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AI agent 3:</a:t>
              </a:r>
            </a:p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Malware Classifier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2276262" y="8782641"/>
            <a:ext cx="2791892" cy="1008469"/>
            <a:chOff x="0" y="0"/>
            <a:chExt cx="915292" cy="33061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915292" cy="330616"/>
            </a:xfrm>
            <a:custGeom>
              <a:avLst/>
              <a:gdLst/>
              <a:ahLst/>
              <a:cxnLst/>
              <a:rect r="r" b="b" t="t" l="l"/>
              <a:pathLst>
                <a:path h="330616" w="915292">
                  <a:moveTo>
                    <a:pt x="165308" y="0"/>
                  </a:moveTo>
                  <a:lnTo>
                    <a:pt x="749984" y="0"/>
                  </a:lnTo>
                  <a:cubicBezTo>
                    <a:pt x="793827" y="0"/>
                    <a:pt x="835873" y="17416"/>
                    <a:pt x="866875" y="48418"/>
                  </a:cubicBezTo>
                  <a:cubicBezTo>
                    <a:pt x="897876" y="79419"/>
                    <a:pt x="915292" y="121466"/>
                    <a:pt x="915292" y="165308"/>
                  </a:cubicBezTo>
                  <a:lnTo>
                    <a:pt x="915292" y="165308"/>
                  </a:lnTo>
                  <a:cubicBezTo>
                    <a:pt x="915292" y="256605"/>
                    <a:pt x="841281" y="330616"/>
                    <a:pt x="749984" y="330616"/>
                  </a:cubicBezTo>
                  <a:lnTo>
                    <a:pt x="165308" y="330616"/>
                  </a:lnTo>
                  <a:cubicBezTo>
                    <a:pt x="74011" y="330616"/>
                    <a:pt x="0" y="256605"/>
                    <a:pt x="0" y="165308"/>
                  </a:cubicBezTo>
                  <a:lnTo>
                    <a:pt x="0" y="165308"/>
                  </a:lnTo>
                  <a:cubicBezTo>
                    <a:pt x="0" y="74011"/>
                    <a:pt x="74011" y="0"/>
                    <a:pt x="165308" y="0"/>
                  </a:cubicBezTo>
                  <a:close/>
                </a:path>
              </a:pathLst>
            </a:custGeom>
            <a:solidFill>
              <a:srgbClr val="FF3131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3" id="113"/>
            <p:cNvSpPr txBox="true"/>
            <p:nvPr/>
          </p:nvSpPr>
          <p:spPr>
            <a:xfrm>
              <a:off x="0" y="-47625"/>
              <a:ext cx="915292" cy="378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Cross verification</a:t>
              </a:r>
            </a:p>
            <a:p>
              <a:pPr algn="ctr">
                <a:lnSpc>
                  <a:spcPts val="2940"/>
                </a:lnSpc>
              </a:pPr>
              <a:r>
                <a:rPr lang="en-US" sz="2100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YARA vs Behavior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5409855" y="3727208"/>
            <a:ext cx="2642183" cy="1008469"/>
            <a:chOff x="0" y="0"/>
            <a:chExt cx="923206" cy="352369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923206" cy="352369"/>
            </a:xfrm>
            <a:custGeom>
              <a:avLst/>
              <a:gdLst/>
              <a:ahLst/>
              <a:cxnLst/>
              <a:rect r="r" b="b" t="t" l="l"/>
              <a:pathLst>
                <a:path h="352369" w="923206">
                  <a:moveTo>
                    <a:pt x="176185" y="0"/>
                  </a:moveTo>
                  <a:lnTo>
                    <a:pt x="747021" y="0"/>
                  </a:lnTo>
                  <a:cubicBezTo>
                    <a:pt x="793748" y="0"/>
                    <a:pt x="838561" y="18562"/>
                    <a:pt x="871602" y="51603"/>
                  </a:cubicBezTo>
                  <a:cubicBezTo>
                    <a:pt x="904643" y="84644"/>
                    <a:pt x="923206" y="129458"/>
                    <a:pt x="923206" y="176185"/>
                  </a:cubicBezTo>
                  <a:lnTo>
                    <a:pt x="923206" y="176185"/>
                  </a:lnTo>
                  <a:cubicBezTo>
                    <a:pt x="923206" y="273489"/>
                    <a:pt x="844325" y="352369"/>
                    <a:pt x="747021" y="352369"/>
                  </a:cubicBezTo>
                  <a:lnTo>
                    <a:pt x="176185" y="352369"/>
                  </a:lnTo>
                  <a:cubicBezTo>
                    <a:pt x="78881" y="352369"/>
                    <a:pt x="0" y="273489"/>
                    <a:pt x="0" y="176185"/>
                  </a:cubicBezTo>
                  <a:lnTo>
                    <a:pt x="0" y="176185"/>
                  </a:lnTo>
                  <a:cubicBezTo>
                    <a:pt x="0" y="78881"/>
                    <a:pt x="78881" y="0"/>
                    <a:pt x="176185" y="0"/>
                  </a:cubicBezTo>
                  <a:close/>
                </a:path>
              </a:pathLst>
            </a:custGeom>
            <a:solidFill>
              <a:srgbClr val="5CE1E6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6" id="116"/>
            <p:cNvSpPr txBox="true"/>
            <p:nvPr/>
          </p:nvSpPr>
          <p:spPr>
            <a:xfrm>
              <a:off x="0" y="-47625"/>
              <a:ext cx="923206" cy="3999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Aggregate Findings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5409855" y="5021427"/>
            <a:ext cx="2642183" cy="1379944"/>
            <a:chOff x="0" y="0"/>
            <a:chExt cx="923206" cy="48216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23206" cy="482166"/>
            </a:xfrm>
            <a:custGeom>
              <a:avLst/>
              <a:gdLst/>
              <a:ahLst/>
              <a:cxnLst/>
              <a:rect r="r" b="b" t="t" l="l"/>
              <a:pathLst>
                <a:path h="482166" w="923206">
                  <a:moveTo>
                    <a:pt x="241083" y="0"/>
                  </a:moveTo>
                  <a:lnTo>
                    <a:pt x="682122" y="0"/>
                  </a:lnTo>
                  <a:cubicBezTo>
                    <a:pt x="746062" y="0"/>
                    <a:pt x="807382" y="25400"/>
                    <a:pt x="852594" y="70612"/>
                  </a:cubicBezTo>
                  <a:cubicBezTo>
                    <a:pt x="897806" y="115824"/>
                    <a:pt x="923206" y="177144"/>
                    <a:pt x="923206" y="241083"/>
                  </a:cubicBezTo>
                  <a:lnTo>
                    <a:pt x="923206" y="241083"/>
                  </a:lnTo>
                  <a:cubicBezTo>
                    <a:pt x="923206" y="374230"/>
                    <a:pt x="815269" y="482166"/>
                    <a:pt x="682122" y="482166"/>
                  </a:cubicBezTo>
                  <a:lnTo>
                    <a:pt x="241083" y="482166"/>
                  </a:lnTo>
                  <a:cubicBezTo>
                    <a:pt x="107937" y="482166"/>
                    <a:pt x="0" y="374230"/>
                    <a:pt x="0" y="241083"/>
                  </a:cubicBezTo>
                  <a:lnTo>
                    <a:pt x="0" y="241083"/>
                  </a:lnTo>
                  <a:cubicBezTo>
                    <a:pt x="0" y="107937"/>
                    <a:pt x="107937" y="0"/>
                    <a:pt x="241083" y="0"/>
                  </a:cubicBezTo>
                  <a:close/>
                </a:path>
              </a:pathLst>
            </a:custGeom>
            <a:solidFill>
              <a:srgbClr val="5CE1E6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9" id="119"/>
            <p:cNvSpPr txBox="true"/>
            <p:nvPr/>
          </p:nvSpPr>
          <p:spPr>
            <a:xfrm>
              <a:off x="0" y="-47625"/>
              <a:ext cx="923206" cy="529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AI agent 4:</a:t>
              </a:r>
            </a:p>
            <a:p>
              <a:pPr algn="ctr">
                <a:lnSpc>
                  <a:spcPts val="2939"/>
                </a:lnSpc>
              </a:pPr>
              <a:r>
                <a:rPr lang="en-US" sz="2099">
                  <a:solidFill>
                    <a:srgbClr val="000000"/>
                  </a:solidFill>
                  <a:latin typeface="Open Sauce"/>
                  <a:ea typeface="Open Sauce"/>
                  <a:cs typeface="Open Sauce"/>
                  <a:sym typeface="Open Sauce"/>
                </a:rPr>
                <a:t>Investigation Writer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5411054" y="6750232"/>
            <a:ext cx="2642183" cy="3372969"/>
            <a:chOff x="0" y="0"/>
            <a:chExt cx="923206" cy="117855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23206" cy="1178550"/>
            </a:xfrm>
            <a:custGeom>
              <a:avLst/>
              <a:gdLst/>
              <a:ahLst/>
              <a:cxnLst/>
              <a:rect r="r" b="b" t="t" l="l"/>
              <a:pathLst>
                <a:path h="1178550" w="923206">
                  <a:moveTo>
                    <a:pt x="293012" y="0"/>
                  </a:moveTo>
                  <a:lnTo>
                    <a:pt x="630193" y="0"/>
                  </a:lnTo>
                  <a:cubicBezTo>
                    <a:pt x="707905" y="0"/>
                    <a:pt x="782434" y="30871"/>
                    <a:pt x="837384" y="85821"/>
                  </a:cubicBezTo>
                  <a:cubicBezTo>
                    <a:pt x="892335" y="140772"/>
                    <a:pt x="923206" y="215301"/>
                    <a:pt x="923206" y="293012"/>
                  </a:cubicBezTo>
                  <a:lnTo>
                    <a:pt x="923206" y="885537"/>
                  </a:lnTo>
                  <a:cubicBezTo>
                    <a:pt x="923206" y="963249"/>
                    <a:pt x="892335" y="1037778"/>
                    <a:pt x="837384" y="1092728"/>
                  </a:cubicBezTo>
                  <a:cubicBezTo>
                    <a:pt x="782434" y="1147679"/>
                    <a:pt x="707905" y="1178550"/>
                    <a:pt x="630193" y="1178550"/>
                  </a:cubicBezTo>
                  <a:lnTo>
                    <a:pt x="293012" y="1178550"/>
                  </a:lnTo>
                  <a:cubicBezTo>
                    <a:pt x="131186" y="1178550"/>
                    <a:pt x="0" y="1047363"/>
                    <a:pt x="0" y="885537"/>
                  </a:cubicBezTo>
                  <a:lnTo>
                    <a:pt x="0" y="293012"/>
                  </a:lnTo>
                  <a:cubicBezTo>
                    <a:pt x="0" y="215301"/>
                    <a:pt x="30871" y="140772"/>
                    <a:pt x="85821" y="85821"/>
                  </a:cubicBezTo>
                  <a:cubicBezTo>
                    <a:pt x="140772" y="30871"/>
                    <a:pt x="215301" y="0"/>
                    <a:pt x="293012" y="0"/>
                  </a:cubicBezTo>
                  <a:close/>
                </a:path>
              </a:pathLst>
            </a:custGeom>
            <a:solidFill>
              <a:srgbClr val="00BF63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923206" cy="1216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Final Threat report:</a:t>
              </a:r>
            </a:p>
            <a:p>
              <a:pPr algn="l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Risk score (0-100)</a:t>
              </a:r>
            </a:p>
            <a:p>
              <a:pPr algn="l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Malware Family</a:t>
              </a:r>
            </a:p>
            <a:p>
              <a:pPr algn="l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MITRE Mapping</a:t>
              </a:r>
            </a:p>
            <a:p>
              <a:pPr algn="l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Recommendations</a:t>
              </a:r>
            </a:p>
            <a:p>
              <a:pPr algn="l">
                <a:lnSpc>
                  <a:spcPts val="27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 PDF Export</a:t>
              </a:r>
            </a:p>
          </p:txBody>
        </p:sp>
      </p:grpSp>
      <p:sp>
        <p:nvSpPr>
          <p:cNvPr name="AutoShape 123" id="123"/>
          <p:cNvSpPr/>
          <p:nvPr/>
        </p:nvSpPr>
        <p:spPr>
          <a:xfrm>
            <a:off x="7570877" y="3341449"/>
            <a:ext cx="42874" cy="54408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4" id="124"/>
          <p:cNvSpPr/>
          <p:nvPr/>
        </p:nvSpPr>
        <p:spPr>
          <a:xfrm>
            <a:off x="10632576" y="5814839"/>
            <a:ext cx="6943" cy="37623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5" id="125"/>
          <p:cNvSpPr/>
          <p:nvPr/>
        </p:nvSpPr>
        <p:spPr>
          <a:xfrm>
            <a:off x="10632576" y="4456603"/>
            <a:ext cx="0" cy="34976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6" id="126"/>
          <p:cNvSpPr/>
          <p:nvPr/>
        </p:nvSpPr>
        <p:spPr>
          <a:xfrm>
            <a:off x="10615508" y="3341449"/>
            <a:ext cx="17068" cy="4238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7" id="127"/>
          <p:cNvSpPr/>
          <p:nvPr/>
        </p:nvSpPr>
        <p:spPr>
          <a:xfrm>
            <a:off x="7590343" y="5911843"/>
            <a:ext cx="132934" cy="64432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8" id="128"/>
          <p:cNvSpPr/>
          <p:nvPr/>
        </p:nvSpPr>
        <p:spPr>
          <a:xfrm>
            <a:off x="7570877" y="4518512"/>
            <a:ext cx="50785" cy="6546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29" id="129"/>
          <p:cNvSpPr/>
          <p:nvPr/>
        </p:nvSpPr>
        <p:spPr>
          <a:xfrm flipH="true">
            <a:off x="10632576" y="7405462"/>
            <a:ext cx="6943" cy="3416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0" id="130"/>
          <p:cNvSpPr/>
          <p:nvPr/>
        </p:nvSpPr>
        <p:spPr>
          <a:xfrm flipH="true">
            <a:off x="13660139" y="3341449"/>
            <a:ext cx="0" cy="4579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1" id="131"/>
          <p:cNvSpPr/>
          <p:nvPr/>
        </p:nvSpPr>
        <p:spPr>
          <a:xfrm>
            <a:off x="13665284" y="8365082"/>
            <a:ext cx="64689" cy="44473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2" id="132"/>
          <p:cNvSpPr/>
          <p:nvPr/>
        </p:nvSpPr>
        <p:spPr>
          <a:xfrm>
            <a:off x="13660139" y="6721005"/>
            <a:ext cx="5146" cy="4296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3" id="133"/>
          <p:cNvSpPr/>
          <p:nvPr/>
        </p:nvSpPr>
        <p:spPr>
          <a:xfrm>
            <a:off x="13655759" y="5610610"/>
            <a:ext cx="4379" cy="4191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4" id="134"/>
          <p:cNvSpPr/>
          <p:nvPr/>
        </p:nvSpPr>
        <p:spPr>
          <a:xfrm flipH="true">
            <a:off x="13655759" y="4490691"/>
            <a:ext cx="4379" cy="4286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5" id="135"/>
          <p:cNvSpPr/>
          <p:nvPr/>
        </p:nvSpPr>
        <p:spPr>
          <a:xfrm>
            <a:off x="16730947" y="6401371"/>
            <a:ext cx="1199" cy="3488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6" id="136"/>
          <p:cNvSpPr/>
          <p:nvPr/>
        </p:nvSpPr>
        <p:spPr>
          <a:xfrm>
            <a:off x="16730947" y="4735677"/>
            <a:ext cx="0" cy="2857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37" id="137"/>
          <p:cNvSpPr/>
          <p:nvPr/>
        </p:nvSpPr>
        <p:spPr>
          <a:xfrm>
            <a:off x="16704769" y="3341449"/>
            <a:ext cx="26177" cy="3857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  <p:transition spd="med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50528" y="-151186"/>
            <a:ext cx="4441134" cy="10577951"/>
          </a:xfrm>
          <a:custGeom>
            <a:avLst/>
            <a:gdLst/>
            <a:ahLst/>
            <a:cxnLst/>
            <a:rect r="r" b="b" t="t" l="l"/>
            <a:pathLst>
              <a:path h="10577951" w="4441134">
                <a:moveTo>
                  <a:pt x="0" y="0"/>
                </a:moveTo>
                <a:lnTo>
                  <a:pt x="4441134" y="0"/>
                </a:lnTo>
                <a:lnTo>
                  <a:pt x="4441134" y="10577951"/>
                </a:lnTo>
                <a:lnTo>
                  <a:pt x="0" y="105779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00" t="-468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4476" y="290984"/>
            <a:ext cx="5717265" cy="1722133"/>
            <a:chOff x="0" y="0"/>
            <a:chExt cx="1505782" cy="453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05782" cy="453566"/>
            </a:xfrm>
            <a:custGeom>
              <a:avLst/>
              <a:gdLst/>
              <a:ahLst/>
              <a:cxnLst/>
              <a:rect r="r" b="b" t="t" l="l"/>
              <a:pathLst>
                <a:path h="453566" w="1505782">
                  <a:moveTo>
                    <a:pt x="135413" y="0"/>
                  </a:moveTo>
                  <a:lnTo>
                    <a:pt x="1370369" y="0"/>
                  </a:lnTo>
                  <a:cubicBezTo>
                    <a:pt x="1445155" y="0"/>
                    <a:pt x="1505782" y="60626"/>
                    <a:pt x="1505782" y="135413"/>
                  </a:cubicBezTo>
                  <a:lnTo>
                    <a:pt x="1505782" y="318153"/>
                  </a:lnTo>
                  <a:cubicBezTo>
                    <a:pt x="1505782" y="392939"/>
                    <a:pt x="1445155" y="453566"/>
                    <a:pt x="1370369" y="453566"/>
                  </a:cubicBezTo>
                  <a:lnTo>
                    <a:pt x="135413" y="453566"/>
                  </a:lnTo>
                  <a:cubicBezTo>
                    <a:pt x="60626" y="453566"/>
                    <a:pt x="0" y="392939"/>
                    <a:pt x="0" y="318153"/>
                  </a:cubicBezTo>
                  <a:lnTo>
                    <a:pt x="0" y="135413"/>
                  </a:lnTo>
                  <a:cubicBezTo>
                    <a:pt x="0" y="60626"/>
                    <a:pt x="60626" y="0"/>
                    <a:pt x="135413" y="0"/>
                  </a:cubicBezTo>
                  <a:close/>
                </a:path>
              </a:pathLst>
            </a:custGeom>
            <a:solidFill>
              <a:srgbClr val="C4EBF5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05782" cy="453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84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3010" y="2262257"/>
            <a:ext cx="5608731" cy="7688505"/>
            <a:chOff x="0" y="0"/>
            <a:chExt cx="1477197" cy="20249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77197" cy="2024956"/>
            </a:xfrm>
            <a:custGeom>
              <a:avLst/>
              <a:gdLst/>
              <a:ahLst/>
              <a:cxnLst/>
              <a:rect r="r" b="b" t="t" l="l"/>
              <a:pathLst>
                <a:path h="2024956" w="1477197">
                  <a:moveTo>
                    <a:pt x="138033" y="0"/>
                  </a:moveTo>
                  <a:lnTo>
                    <a:pt x="1339163" y="0"/>
                  </a:lnTo>
                  <a:cubicBezTo>
                    <a:pt x="1415397" y="0"/>
                    <a:pt x="1477197" y="61800"/>
                    <a:pt x="1477197" y="138033"/>
                  </a:cubicBezTo>
                  <a:lnTo>
                    <a:pt x="1477197" y="1886923"/>
                  </a:lnTo>
                  <a:cubicBezTo>
                    <a:pt x="1477197" y="1963156"/>
                    <a:pt x="1415397" y="2024956"/>
                    <a:pt x="1339163" y="2024956"/>
                  </a:cubicBezTo>
                  <a:lnTo>
                    <a:pt x="138033" y="2024956"/>
                  </a:lnTo>
                  <a:cubicBezTo>
                    <a:pt x="61800" y="2024956"/>
                    <a:pt x="0" y="1963156"/>
                    <a:pt x="0" y="1886923"/>
                  </a:cubicBezTo>
                  <a:lnTo>
                    <a:pt x="0" y="138033"/>
                  </a:lnTo>
                  <a:cubicBezTo>
                    <a:pt x="0" y="61800"/>
                    <a:pt x="61800" y="0"/>
                    <a:pt x="138033" y="0"/>
                  </a:cubicBezTo>
                  <a:close/>
                </a:path>
              </a:pathLst>
            </a:custGeom>
            <a:solidFill>
              <a:srgbClr val="5170FF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477197" cy="2072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7969" y="3471609"/>
            <a:ext cx="5140422" cy="1671891"/>
            <a:chOff x="0" y="0"/>
            <a:chExt cx="1353856" cy="4403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53856" cy="440333"/>
            </a:xfrm>
            <a:custGeom>
              <a:avLst/>
              <a:gdLst/>
              <a:ahLst/>
              <a:cxnLst/>
              <a:rect r="r" b="b" t="t" l="l"/>
              <a:pathLst>
                <a:path h="440333" w="1353856">
                  <a:moveTo>
                    <a:pt x="76810" y="0"/>
                  </a:moveTo>
                  <a:lnTo>
                    <a:pt x="1277046" y="0"/>
                  </a:lnTo>
                  <a:cubicBezTo>
                    <a:pt x="1319467" y="0"/>
                    <a:pt x="1353856" y="34389"/>
                    <a:pt x="1353856" y="76810"/>
                  </a:cubicBezTo>
                  <a:lnTo>
                    <a:pt x="1353856" y="363523"/>
                  </a:lnTo>
                  <a:cubicBezTo>
                    <a:pt x="1353856" y="383894"/>
                    <a:pt x="1345763" y="403431"/>
                    <a:pt x="1331359" y="417836"/>
                  </a:cubicBezTo>
                  <a:cubicBezTo>
                    <a:pt x="1316954" y="432241"/>
                    <a:pt x="1297417" y="440333"/>
                    <a:pt x="1277046" y="440333"/>
                  </a:cubicBezTo>
                  <a:lnTo>
                    <a:pt x="76810" y="440333"/>
                  </a:lnTo>
                  <a:cubicBezTo>
                    <a:pt x="34389" y="440333"/>
                    <a:pt x="0" y="405944"/>
                    <a:pt x="0" y="363523"/>
                  </a:cubicBezTo>
                  <a:lnTo>
                    <a:pt x="0" y="76810"/>
                  </a:lnTo>
                  <a:cubicBezTo>
                    <a:pt x="0" y="34389"/>
                    <a:pt x="34389" y="0"/>
                    <a:pt x="7681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353856" cy="487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7969" y="5238171"/>
            <a:ext cx="5140422" cy="1498327"/>
            <a:chOff x="0" y="0"/>
            <a:chExt cx="1353856" cy="3946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53856" cy="394621"/>
            </a:xfrm>
            <a:custGeom>
              <a:avLst/>
              <a:gdLst/>
              <a:ahLst/>
              <a:cxnLst/>
              <a:rect r="r" b="b" t="t" l="l"/>
              <a:pathLst>
                <a:path h="394621" w="1353856">
                  <a:moveTo>
                    <a:pt x="76810" y="0"/>
                  </a:moveTo>
                  <a:lnTo>
                    <a:pt x="1277046" y="0"/>
                  </a:lnTo>
                  <a:cubicBezTo>
                    <a:pt x="1319467" y="0"/>
                    <a:pt x="1353856" y="34389"/>
                    <a:pt x="1353856" y="76810"/>
                  </a:cubicBezTo>
                  <a:lnTo>
                    <a:pt x="1353856" y="317811"/>
                  </a:lnTo>
                  <a:cubicBezTo>
                    <a:pt x="1353856" y="338182"/>
                    <a:pt x="1345763" y="357719"/>
                    <a:pt x="1331359" y="372124"/>
                  </a:cubicBezTo>
                  <a:cubicBezTo>
                    <a:pt x="1316954" y="386529"/>
                    <a:pt x="1297417" y="394621"/>
                    <a:pt x="1277046" y="394621"/>
                  </a:cubicBezTo>
                  <a:lnTo>
                    <a:pt x="76810" y="394621"/>
                  </a:lnTo>
                  <a:cubicBezTo>
                    <a:pt x="34389" y="394621"/>
                    <a:pt x="0" y="360232"/>
                    <a:pt x="0" y="317811"/>
                  </a:cubicBezTo>
                  <a:lnTo>
                    <a:pt x="0" y="76810"/>
                  </a:lnTo>
                  <a:cubicBezTo>
                    <a:pt x="0" y="34389"/>
                    <a:pt x="34389" y="0"/>
                    <a:pt x="7681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353856" cy="442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62898" y="6831748"/>
            <a:ext cx="5140422" cy="1577220"/>
            <a:chOff x="0" y="0"/>
            <a:chExt cx="1353856" cy="4153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53856" cy="415399"/>
            </a:xfrm>
            <a:custGeom>
              <a:avLst/>
              <a:gdLst/>
              <a:ahLst/>
              <a:cxnLst/>
              <a:rect r="r" b="b" t="t" l="l"/>
              <a:pathLst>
                <a:path h="415399" w="1353856">
                  <a:moveTo>
                    <a:pt x="76810" y="0"/>
                  </a:moveTo>
                  <a:lnTo>
                    <a:pt x="1277046" y="0"/>
                  </a:lnTo>
                  <a:cubicBezTo>
                    <a:pt x="1319467" y="0"/>
                    <a:pt x="1353856" y="34389"/>
                    <a:pt x="1353856" y="76810"/>
                  </a:cubicBezTo>
                  <a:lnTo>
                    <a:pt x="1353856" y="338589"/>
                  </a:lnTo>
                  <a:cubicBezTo>
                    <a:pt x="1353856" y="381010"/>
                    <a:pt x="1319467" y="415399"/>
                    <a:pt x="1277046" y="415399"/>
                  </a:cubicBezTo>
                  <a:lnTo>
                    <a:pt x="76810" y="415399"/>
                  </a:lnTo>
                  <a:cubicBezTo>
                    <a:pt x="34389" y="415399"/>
                    <a:pt x="0" y="381010"/>
                    <a:pt x="0" y="338589"/>
                  </a:cubicBezTo>
                  <a:lnTo>
                    <a:pt x="0" y="76810"/>
                  </a:lnTo>
                  <a:cubicBezTo>
                    <a:pt x="0" y="34389"/>
                    <a:pt x="34389" y="0"/>
                    <a:pt x="7681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353856" cy="463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62898" y="8504218"/>
            <a:ext cx="5140422" cy="1093262"/>
            <a:chOff x="0" y="0"/>
            <a:chExt cx="1353856" cy="2879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53856" cy="287937"/>
            </a:xfrm>
            <a:custGeom>
              <a:avLst/>
              <a:gdLst/>
              <a:ahLst/>
              <a:cxnLst/>
              <a:rect r="r" b="b" t="t" l="l"/>
              <a:pathLst>
                <a:path h="287937" w="1353856">
                  <a:moveTo>
                    <a:pt x="76810" y="0"/>
                  </a:moveTo>
                  <a:lnTo>
                    <a:pt x="1277046" y="0"/>
                  </a:lnTo>
                  <a:cubicBezTo>
                    <a:pt x="1319467" y="0"/>
                    <a:pt x="1353856" y="34389"/>
                    <a:pt x="1353856" y="76810"/>
                  </a:cubicBezTo>
                  <a:lnTo>
                    <a:pt x="1353856" y="211127"/>
                  </a:lnTo>
                  <a:cubicBezTo>
                    <a:pt x="1353856" y="253548"/>
                    <a:pt x="1319467" y="287937"/>
                    <a:pt x="1277046" y="287937"/>
                  </a:cubicBezTo>
                  <a:lnTo>
                    <a:pt x="76810" y="287937"/>
                  </a:lnTo>
                  <a:cubicBezTo>
                    <a:pt x="34389" y="287937"/>
                    <a:pt x="0" y="253548"/>
                    <a:pt x="0" y="211127"/>
                  </a:cubicBezTo>
                  <a:lnTo>
                    <a:pt x="0" y="76810"/>
                  </a:lnTo>
                  <a:cubicBezTo>
                    <a:pt x="0" y="34389"/>
                    <a:pt x="34389" y="0"/>
                    <a:pt x="7681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353856" cy="335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59313" y="2381693"/>
            <a:ext cx="2717733" cy="994666"/>
            <a:chOff x="0" y="0"/>
            <a:chExt cx="715782" cy="2619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5782" cy="261970"/>
            </a:xfrm>
            <a:custGeom>
              <a:avLst/>
              <a:gdLst/>
              <a:ahLst/>
              <a:cxnLst/>
              <a:rect r="r" b="b" t="t" l="l"/>
              <a:pathLst>
                <a:path h="261970" w="715782">
                  <a:moveTo>
                    <a:pt x="130985" y="0"/>
                  </a:moveTo>
                  <a:lnTo>
                    <a:pt x="584797" y="0"/>
                  </a:lnTo>
                  <a:cubicBezTo>
                    <a:pt x="619536" y="0"/>
                    <a:pt x="652853" y="13800"/>
                    <a:pt x="677417" y="38365"/>
                  </a:cubicBezTo>
                  <a:cubicBezTo>
                    <a:pt x="701981" y="62929"/>
                    <a:pt x="715782" y="96246"/>
                    <a:pt x="715782" y="130985"/>
                  </a:cubicBezTo>
                  <a:lnTo>
                    <a:pt x="715782" y="130985"/>
                  </a:lnTo>
                  <a:cubicBezTo>
                    <a:pt x="715782" y="165724"/>
                    <a:pt x="701981" y="199041"/>
                    <a:pt x="677417" y="223605"/>
                  </a:cubicBezTo>
                  <a:cubicBezTo>
                    <a:pt x="652853" y="248170"/>
                    <a:pt x="619536" y="261970"/>
                    <a:pt x="584797" y="261970"/>
                  </a:cubicBezTo>
                  <a:lnTo>
                    <a:pt x="130985" y="261970"/>
                  </a:lnTo>
                  <a:cubicBezTo>
                    <a:pt x="96246" y="261970"/>
                    <a:pt x="62929" y="248170"/>
                    <a:pt x="38365" y="223605"/>
                  </a:cubicBezTo>
                  <a:cubicBezTo>
                    <a:pt x="13800" y="199041"/>
                    <a:pt x="0" y="165724"/>
                    <a:pt x="0" y="130985"/>
                  </a:cubicBezTo>
                  <a:lnTo>
                    <a:pt x="0" y="130985"/>
                  </a:lnTo>
                  <a:cubicBezTo>
                    <a:pt x="0" y="96246"/>
                    <a:pt x="13800" y="62929"/>
                    <a:pt x="38365" y="38365"/>
                  </a:cubicBezTo>
                  <a:cubicBezTo>
                    <a:pt x="62929" y="13800"/>
                    <a:pt x="96246" y="0"/>
                    <a:pt x="130985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715782" cy="261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86"/>
                </a:lnSpc>
                <a:spcBef>
                  <a:spcPct val="0"/>
                </a:spcBef>
              </a:pPr>
              <a:r>
                <a:rPr lang="en-US" sz="3405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Technical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2163787">
            <a:off x="4489906" y="2162956"/>
            <a:ext cx="859284" cy="1432140"/>
          </a:xfrm>
          <a:custGeom>
            <a:avLst/>
            <a:gdLst/>
            <a:ahLst/>
            <a:cxnLst/>
            <a:rect r="r" b="b" t="t" l="l"/>
            <a:pathLst>
              <a:path h="1432140" w="859284">
                <a:moveTo>
                  <a:pt x="0" y="0"/>
                </a:moveTo>
                <a:lnTo>
                  <a:pt x="859284" y="0"/>
                </a:lnTo>
                <a:lnTo>
                  <a:pt x="859284" y="1432140"/>
                </a:lnTo>
                <a:lnTo>
                  <a:pt x="0" y="14321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6226962" y="4683988"/>
            <a:ext cx="7199134" cy="8356988"/>
            <a:chOff x="0" y="0"/>
            <a:chExt cx="1896068" cy="220101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96068" cy="2201017"/>
            </a:xfrm>
            <a:custGeom>
              <a:avLst/>
              <a:gdLst/>
              <a:ahLst/>
              <a:cxnLst/>
              <a:rect r="r" b="b" t="t" l="l"/>
              <a:pathLst>
                <a:path h="2201017" w="1896068">
                  <a:moveTo>
                    <a:pt x="107540" y="0"/>
                  </a:moveTo>
                  <a:lnTo>
                    <a:pt x="1788529" y="0"/>
                  </a:lnTo>
                  <a:cubicBezTo>
                    <a:pt x="1847921" y="0"/>
                    <a:pt x="1896068" y="48147"/>
                    <a:pt x="1896068" y="107540"/>
                  </a:cubicBezTo>
                  <a:lnTo>
                    <a:pt x="1896068" y="2093478"/>
                  </a:lnTo>
                  <a:cubicBezTo>
                    <a:pt x="1896068" y="2152870"/>
                    <a:pt x="1847921" y="2201017"/>
                    <a:pt x="1788529" y="2201017"/>
                  </a:cubicBezTo>
                  <a:lnTo>
                    <a:pt x="107540" y="2201017"/>
                  </a:lnTo>
                  <a:cubicBezTo>
                    <a:pt x="48147" y="2201017"/>
                    <a:pt x="0" y="2152870"/>
                    <a:pt x="0" y="2093478"/>
                  </a:cubicBezTo>
                  <a:lnTo>
                    <a:pt x="0" y="107540"/>
                  </a:lnTo>
                  <a:cubicBezTo>
                    <a:pt x="0" y="48147"/>
                    <a:pt x="48147" y="0"/>
                    <a:pt x="107540" y="0"/>
                  </a:cubicBezTo>
                  <a:close/>
                </a:path>
              </a:pathLst>
            </a:custGeom>
            <a:solidFill>
              <a:srgbClr val="F9B44E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896068" cy="22486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1072202">
            <a:off x="12374395" y="4056183"/>
            <a:ext cx="1298010" cy="1365020"/>
          </a:xfrm>
          <a:custGeom>
            <a:avLst/>
            <a:gdLst/>
            <a:ahLst/>
            <a:cxnLst/>
            <a:rect r="r" b="b" t="t" l="l"/>
            <a:pathLst>
              <a:path h="1365020" w="1298010">
                <a:moveTo>
                  <a:pt x="0" y="0"/>
                </a:moveTo>
                <a:lnTo>
                  <a:pt x="1298010" y="0"/>
                </a:lnTo>
                <a:lnTo>
                  <a:pt x="1298010" y="1365019"/>
                </a:lnTo>
                <a:lnTo>
                  <a:pt x="0" y="13650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6471705" y="4933359"/>
            <a:ext cx="3467054" cy="1173151"/>
            <a:chOff x="0" y="0"/>
            <a:chExt cx="913134" cy="3089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3134" cy="308978"/>
            </a:xfrm>
            <a:custGeom>
              <a:avLst/>
              <a:gdLst/>
              <a:ahLst/>
              <a:cxnLst/>
              <a:rect r="r" b="b" t="t" l="l"/>
              <a:pathLst>
                <a:path h="308978" w="913134">
                  <a:moveTo>
                    <a:pt x="154489" y="0"/>
                  </a:moveTo>
                  <a:lnTo>
                    <a:pt x="758645" y="0"/>
                  </a:lnTo>
                  <a:cubicBezTo>
                    <a:pt x="843967" y="0"/>
                    <a:pt x="913134" y="69167"/>
                    <a:pt x="913134" y="154489"/>
                  </a:cubicBezTo>
                  <a:lnTo>
                    <a:pt x="913134" y="154489"/>
                  </a:lnTo>
                  <a:cubicBezTo>
                    <a:pt x="913134" y="195462"/>
                    <a:pt x="896857" y="234757"/>
                    <a:pt x="867885" y="263729"/>
                  </a:cubicBezTo>
                  <a:cubicBezTo>
                    <a:pt x="838913" y="292702"/>
                    <a:pt x="799618" y="308978"/>
                    <a:pt x="758645" y="308978"/>
                  </a:cubicBezTo>
                  <a:lnTo>
                    <a:pt x="154489" y="308978"/>
                  </a:lnTo>
                  <a:cubicBezTo>
                    <a:pt x="113516" y="308978"/>
                    <a:pt x="74221" y="292702"/>
                    <a:pt x="45249" y="263729"/>
                  </a:cubicBezTo>
                  <a:cubicBezTo>
                    <a:pt x="16276" y="234757"/>
                    <a:pt x="0" y="195462"/>
                    <a:pt x="0" y="154489"/>
                  </a:cubicBezTo>
                  <a:lnTo>
                    <a:pt x="0" y="154489"/>
                  </a:lnTo>
                  <a:cubicBezTo>
                    <a:pt x="0" y="113516"/>
                    <a:pt x="16276" y="74221"/>
                    <a:pt x="45249" y="45249"/>
                  </a:cubicBezTo>
                  <a:cubicBezTo>
                    <a:pt x="74221" y="16276"/>
                    <a:pt x="113516" y="0"/>
                    <a:pt x="154489" y="0"/>
                  </a:cubicBezTo>
                  <a:close/>
                </a:path>
              </a:pathLst>
            </a:custGeom>
            <a:solidFill>
              <a:srgbClr val="C4EBF5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913134" cy="318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046"/>
                </a:lnSpc>
                <a:spcBef>
                  <a:spcPct val="0"/>
                </a:spcBef>
              </a:pPr>
              <a:r>
                <a:rPr lang="en-US" b="true" sz="4205" strike="noStrike" u="none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VIABILITY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560323" y="6308524"/>
            <a:ext cx="6551695" cy="3642238"/>
            <a:chOff x="0" y="0"/>
            <a:chExt cx="1789419" cy="99477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89419" cy="994779"/>
            </a:xfrm>
            <a:custGeom>
              <a:avLst/>
              <a:gdLst/>
              <a:ahLst/>
              <a:cxnLst/>
              <a:rect r="r" b="b" t="t" l="l"/>
              <a:pathLst>
                <a:path h="994779" w="1789419">
                  <a:moveTo>
                    <a:pt x="60265" y="0"/>
                  </a:moveTo>
                  <a:lnTo>
                    <a:pt x="1729154" y="0"/>
                  </a:lnTo>
                  <a:cubicBezTo>
                    <a:pt x="1762438" y="0"/>
                    <a:pt x="1789419" y="26982"/>
                    <a:pt x="1789419" y="60265"/>
                  </a:cubicBezTo>
                  <a:lnTo>
                    <a:pt x="1789419" y="934514"/>
                  </a:lnTo>
                  <a:cubicBezTo>
                    <a:pt x="1789419" y="950498"/>
                    <a:pt x="1783070" y="965826"/>
                    <a:pt x="1771768" y="977128"/>
                  </a:cubicBezTo>
                  <a:cubicBezTo>
                    <a:pt x="1760466" y="988430"/>
                    <a:pt x="1745137" y="994779"/>
                    <a:pt x="1729154" y="994779"/>
                  </a:cubicBezTo>
                  <a:lnTo>
                    <a:pt x="60265" y="994779"/>
                  </a:lnTo>
                  <a:cubicBezTo>
                    <a:pt x="44282" y="994779"/>
                    <a:pt x="28953" y="988430"/>
                    <a:pt x="17651" y="977128"/>
                  </a:cubicBezTo>
                  <a:cubicBezTo>
                    <a:pt x="6349" y="965826"/>
                    <a:pt x="0" y="950498"/>
                    <a:pt x="0" y="934514"/>
                  </a:cubicBezTo>
                  <a:lnTo>
                    <a:pt x="0" y="60265"/>
                  </a:lnTo>
                  <a:cubicBezTo>
                    <a:pt x="0" y="44282"/>
                    <a:pt x="6349" y="28953"/>
                    <a:pt x="17651" y="17651"/>
                  </a:cubicBezTo>
                  <a:cubicBezTo>
                    <a:pt x="28953" y="6349"/>
                    <a:pt x="44282" y="0"/>
                    <a:pt x="60265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789419" cy="1032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686361" y="3616598"/>
            <a:ext cx="5002030" cy="578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5"/>
              </a:lnSpc>
              <a:spcBef>
                <a:spcPct val="0"/>
              </a:spcBef>
            </a:pPr>
            <a:r>
              <a:rPr lang="en-US" b="true" sz="1561">
                <a:solidFill>
                  <a:srgbClr val="1A3E7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Existing Security Tools</a:t>
            </a:r>
          </a:p>
          <a:p>
            <a:pPr algn="l">
              <a:lnSpc>
                <a:spcPts val="2185"/>
              </a:lnSpc>
              <a:spcBef>
                <a:spcPct val="0"/>
              </a:spcBef>
            </a:pPr>
            <a:r>
              <a:rPr lang="en-US" sz="1561">
                <a:solidFill>
                  <a:srgbClr val="1A3E75"/>
                </a:solidFill>
                <a:latin typeface="Open Sauce"/>
                <a:ea typeface="Open Sauce"/>
                <a:cs typeface="Open Sauce"/>
                <a:sym typeface="Open Sauce"/>
              </a:rPr>
              <a:t>Built using proven cybersecurity tools:</a:t>
            </a:r>
          </a:p>
          <a:p>
            <a:pPr algn="l">
              <a:lnSpc>
                <a:spcPts val="2185"/>
              </a:lnSpc>
              <a:spcBef>
                <a:spcPct val="0"/>
              </a:spcBef>
            </a:pPr>
            <a:r>
              <a:rPr lang="en-US" sz="1561">
                <a:solidFill>
                  <a:srgbClr val="1A3E75"/>
                </a:solidFill>
                <a:latin typeface="Open Sauce"/>
                <a:ea typeface="Open Sauce"/>
                <a:cs typeface="Open Sauce"/>
                <a:sym typeface="Open Sauce"/>
              </a:rPr>
              <a:t> Androguard, JADX, VirusTotal, YARA, Frida, Android Emulator</a:t>
            </a:r>
          </a:p>
          <a:p>
            <a:pPr algn="l">
              <a:lnSpc>
                <a:spcPts val="2185"/>
              </a:lnSpc>
              <a:spcBef>
                <a:spcPct val="0"/>
              </a:spcBef>
            </a:pPr>
            <a:r>
              <a:rPr lang="en-US" sz="1561">
                <a:solidFill>
                  <a:srgbClr val="1A3E75"/>
                </a:solidFill>
                <a:latin typeface="Open Sauce"/>
                <a:ea typeface="Open Sauce"/>
                <a:cs typeface="Open Sauce"/>
                <a:sym typeface="Open Sauce"/>
              </a:rPr>
              <a:t>No custom malware engine required from scratch.</a:t>
            </a:r>
          </a:p>
          <a:p>
            <a:pPr algn="l">
              <a:lnSpc>
                <a:spcPts val="2185"/>
              </a:lnSpc>
              <a:spcBef>
                <a:spcPct val="0"/>
              </a:spcBef>
            </a:pPr>
          </a:p>
          <a:p>
            <a:pPr algn="l">
              <a:lnSpc>
                <a:spcPts val="2185"/>
              </a:lnSpc>
              <a:spcBef>
                <a:spcPct val="0"/>
              </a:spcBef>
            </a:pPr>
            <a:r>
              <a:rPr lang="en-US" b="true" sz="1561">
                <a:solidFill>
                  <a:srgbClr val="1A3E7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AI-Powered Analysis</a:t>
            </a:r>
          </a:p>
          <a:p>
            <a:pPr algn="l">
              <a:lnSpc>
                <a:spcPts val="2185"/>
              </a:lnSpc>
              <a:spcBef>
                <a:spcPct val="0"/>
              </a:spcBef>
            </a:pPr>
            <a:r>
              <a:rPr lang="en-US" sz="1561">
                <a:solidFill>
                  <a:srgbClr val="1A3E75"/>
                </a:solidFill>
                <a:latin typeface="Open Sauce"/>
                <a:ea typeface="Open Sauce"/>
                <a:cs typeface="Open Sauce"/>
                <a:sym typeface="Open Sauce"/>
              </a:rPr>
              <a:t>Generative AI interprets decompiled code, permissions, APIs, and runtime behavior.</a:t>
            </a:r>
          </a:p>
          <a:p>
            <a:pPr algn="l">
              <a:lnSpc>
                <a:spcPts val="2185"/>
              </a:lnSpc>
              <a:spcBef>
                <a:spcPct val="0"/>
              </a:spcBef>
            </a:pPr>
            <a:r>
              <a:rPr lang="en-US" sz="1561">
                <a:solidFill>
                  <a:srgbClr val="1A3E75"/>
                </a:solidFill>
                <a:latin typeface="Open Sauce"/>
                <a:ea typeface="Open Sauce"/>
                <a:cs typeface="Open Sauce"/>
                <a:sym typeface="Open Sauce"/>
              </a:rPr>
              <a:t>Automates tasks currently performed by security analysts.</a:t>
            </a:r>
          </a:p>
          <a:p>
            <a:pPr algn="l">
              <a:lnSpc>
                <a:spcPts val="2185"/>
              </a:lnSpc>
              <a:spcBef>
                <a:spcPct val="0"/>
              </a:spcBef>
            </a:pPr>
          </a:p>
          <a:p>
            <a:pPr algn="l">
              <a:lnSpc>
                <a:spcPts val="2185"/>
              </a:lnSpc>
              <a:spcBef>
                <a:spcPct val="0"/>
              </a:spcBef>
            </a:pPr>
            <a:r>
              <a:rPr lang="en-US" b="true" sz="1561">
                <a:solidFill>
                  <a:srgbClr val="1A3E7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Scalable Architecture</a:t>
            </a:r>
          </a:p>
          <a:p>
            <a:pPr algn="l">
              <a:lnSpc>
                <a:spcPts val="2185"/>
              </a:lnSpc>
              <a:spcBef>
                <a:spcPct val="0"/>
              </a:spcBef>
            </a:pPr>
            <a:r>
              <a:rPr lang="en-US" sz="1561">
                <a:solidFill>
                  <a:srgbClr val="1A3E75"/>
                </a:solidFill>
                <a:latin typeface="Open Sauce"/>
                <a:ea typeface="Open Sauce"/>
                <a:cs typeface="Open Sauce"/>
                <a:sym typeface="Open Sauce"/>
              </a:rPr>
              <a:t>Cloud-based processing for multiple APK submissions.</a:t>
            </a:r>
          </a:p>
          <a:p>
            <a:pPr algn="l">
              <a:lnSpc>
                <a:spcPts val="2185"/>
              </a:lnSpc>
              <a:spcBef>
                <a:spcPct val="0"/>
              </a:spcBef>
            </a:pPr>
            <a:r>
              <a:rPr lang="en-US" sz="1561">
                <a:solidFill>
                  <a:srgbClr val="1A3E75"/>
                </a:solidFill>
                <a:latin typeface="Open Sauce"/>
                <a:ea typeface="Open Sauce"/>
                <a:cs typeface="Open Sauce"/>
                <a:sym typeface="Open Sauce"/>
              </a:rPr>
              <a:t>Modular pipeline allows future expansion to iOS and desktop malware.</a:t>
            </a:r>
          </a:p>
          <a:p>
            <a:pPr algn="l">
              <a:lnSpc>
                <a:spcPts val="2185"/>
              </a:lnSpc>
              <a:spcBef>
                <a:spcPct val="0"/>
              </a:spcBef>
            </a:pPr>
          </a:p>
          <a:p>
            <a:pPr algn="l">
              <a:lnSpc>
                <a:spcPts val="2185"/>
              </a:lnSpc>
              <a:spcBef>
                <a:spcPct val="0"/>
              </a:spcBef>
            </a:pPr>
            <a:r>
              <a:rPr lang="en-US" b="true" sz="1561">
                <a:solidFill>
                  <a:srgbClr val="1A3E7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Automated Risk Scoring</a:t>
            </a:r>
          </a:p>
          <a:p>
            <a:pPr algn="l">
              <a:lnSpc>
                <a:spcPts val="2185"/>
              </a:lnSpc>
              <a:spcBef>
                <a:spcPct val="0"/>
              </a:spcBef>
            </a:pPr>
            <a:r>
              <a:rPr lang="en-US" sz="1561">
                <a:solidFill>
                  <a:srgbClr val="1A3E75"/>
                </a:solidFill>
                <a:latin typeface="Open Sauce"/>
                <a:ea typeface="Open Sauce"/>
                <a:cs typeface="Open Sauce"/>
                <a:sym typeface="Open Sauce"/>
              </a:rPr>
              <a:t>Combines static analysis, dynamic analysis, threat intelligence, and AI findings into a unified risk score.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148071" y="0"/>
            <a:ext cx="7278025" cy="4379188"/>
            <a:chOff x="0" y="0"/>
            <a:chExt cx="9704033" cy="5838918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9704033" cy="5838918"/>
              <a:chOff x="0" y="0"/>
              <a:chExt cx="1987797" cy="119605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987797" cy="1196058"/>
              </a:xfrm>
              <a:custGeom>
                <a:avLst/>
                <a:gdLst/>
                <a:ahLst/>
                <a:cxnLst/>
                <a:rect r="r" b="b" t="t" l="l"/>
                <a:pathLst>
                  <a:path h="1196058" w="1987797">
                    <a:moveTo>
                      <a:pt x="106374" y="0"/>
                    </a:moveTo>
                    <a:lnTo>
                      <a:pt x="1881423" y="0"/>
                    </a:lnTo>
                    <a:cubicBezTo>
                      <a:pt x="1909635" y="0"/>
                      <a:pt x="1936691" y="11207"/>
                      <a:pt x="1956640" y="31156"/>
                    </a:cubicBezTo>
                    <a:cubicBezTo>
                      <a:pt x="1976589" y="51105"/>
                      <a:pt x="1987797" y="78162"/>
                      <a:pt x="1987797" y="106374"/>
                    </a:cubicBezTo>
                    <a:lnTo>
                      <a:pt x="1987797" y="1089684"/>
                    </a:lnTo>
                    <a:cubicBezTo>
                      <a:pt x="1987797" y="1148432"/>
                      <a:pt x="1940171" y="1196058"/>
                      <a:pt x="1881423" y="1196058"/>
                    </a:cubicBezTo>
                    <a:lnTo>
                      <a:pt x="106374" y="1196058"/>
                    </a:lnTo>
                    <a:cubicBezTo>
                      <a:pt x="78162" y="1196058"/>
                      <a:pt x="51105" y="1184850"/>
                      <a:pt x="31156" y="1164901"/>
                    </a:cubicBezTo>
                    <a:cubicBezTo>
                      <a:pt x="11207" y="1144952"/>
                      <a:pt x="0" y="1117896"/>
                      <a:pt x="0" y="1089684"/>
                    </a:cubicBezTo>
                    <a:lnTo>
                      <a:pt x="0" y="106374"/>
                    </a:lnTo>
                    <a:cubicBezTo>
                      <a:pt x="0" y="47625"/>
                      <a:pt x="47625" y="0"/>
                      <a:pt x="106374" y="0"/>
                    </a:cubicBezTo>
                    <a:close/>
                  </a:path>
                </a:pathLst>
              </a:custGeom>
              <a:solidFill>
                <a:srgbClr val="DB3E3E"/>
              </a:solidFill>
              <a:ln w="857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1987797" cy="12436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80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431511" y="309070"/>
              <a:ext cx="3494305" cy="1278885"/>
              <a:chOff x="0" y="0"/>
              <a:chExt cx="715782" cy="26197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715782" cy="261970"/>
              </a:xfrm>
              <a:custGeom>
                <a:avLst/>
                <a:gdLst/>
                <a:ahLst/>
                <a:cxnLst/>
                <a:rect r="r" b="b" t="t" l="l"/>
                <a:pathLst>
                  <a:path h="261970" w="715782">
                    <a:moveTo>
                      <a:pt x="130985" y="0"/>
                    </a:moveTo>
                    <a:lnTo>
                      <a:pt x="584797" y="0"/>
                    </a:lnTo>
                    <a:cubicBezTo>
                      <a:pt x="619536" y="0"/>
                      <a:pt x="652853" y="13800"/>
                      <a:pt x="677417" y="38365"/>
                    </a:cubicBezTo>
                    <a:cubicBezTo>
                      <a:pt x="701981" y="62929"/>
                      <a:pt x="715782" y="96246"/>
                      <a:pt x="715782" y="130985"/>
                    </a:cubicBezTo>
                    <a:lnTo>
                      <a:pt x="715782" y="130985"/>
                    </a:lnTo>
                    <a:cubicBezTo>
                      <a:pt x="715782" y="165724"/>
                      <a:pt x="701981" y="199041"/>
                      <a:pt x="677417" y="223605"/>
                    </a:cubicBezTo>
                    <a:cubicBezTo>
                      <a:pt x="652853" y="248170"/>
                      <a:pt x="619536" y="261970"/>
                      <a:pt x="584797" y="261970"/>
                    </a:cubicBezTo>
                    <a:lnTo>
                      <a:pt x="130985" y="261970"/>
                    </a:lnTo>
                    <a:cubicBezTo>
                      <a:pt x="96246" y="261970"/>
                      <a:pt x="62929" y="248170"/>
                      <a:pt x="38365" y="223605"/>
                    </a:cubicBezTo>
                    <a:cubicBezTo>
                      <a:pt x="13800" y="199041"/>
                      <a:pt x="0" y="165724"/>
                      <a:pt x="0" y="130985"/>
                    </a:cubicBezTo>
                    <a:lnTo>
                      <a:pt x="0" y="130985"/>
                    </a:lnTo>
                    <a:cubicBezTo>
                      <a:pt x="0" y="96246"/>
                      <a:pt x="13800" y="62929"/>
                      <a:pt x="38365" y="38365"/>
                    </a:cubicBezTo>
                    <a:cubicBezTo>
                      <a:pt x="62929" y="13800"/>
                      <a:pt x="96246" y="0"/>
                      <a:pt x="1309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857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0"/>
                <a:ext cx="715782" cy="2619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846"/>
                  </a:lnSpc>
                  <a:spcBef>
                    <a:spcPct val="0"/>
                  </a:spcBef>
                </a:pPr>
                <a:r>
                  <a:rPr lang="en-US" sz="3205">
                    <a:solidFill>
                      <a:srgbClr val="000000"/>
                    </a:solidFill>
                    <a:latin typeface="League Spartan"/>
                    <a:ea typeface="League Spartan"/>
                    <a:cs typeface="League Spartan"/>
                    <a:sym typeface="League Spartan"/>
                  </a:rPr>
                  <a:t>Economic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431511" y="1764083"/>
              <a:ext cx="8735593" cy="1141265"/>
              <a:chOff x="0" y="0"/>
              <a:chExt cx="1789419" cy="233779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789419" cy="233779"/>
              </a:xfrm>
              <a:custGeom>
                <a:avLst/>
                <a:gdLst/>
                <a:ahLst/>
                <a:cxnLst/>
                <a:rect r="r" b="b" t="t" l="l"/>
                <a:pathLst>
                  <a:path h="233779" w="1789419">
                    <a:moveTo>
                      <a:pt x="60265" y="0"/>
                    </a:moveTo>
                    <a:lnTo>
                      <a:pt x="1729154" y="0"/>
                    </a:lnTo>
                    <a:cubicBezTo>
                      <a:pt x="1762438" y="0"/>
                      <a:pt x="1789419" y="26982"/>
                      <a:pt x="1789419" y="60265"/>
                    </a:cubicBezTo>
                    <a:lnTo>
                      <a:pt x="1789419" y="173514"/>
                    </a:lnTo>
                    <a:cubicBezTo>
                      <a:pt x="1789419" y="189498"/>
                      <a:pt x="1783070" y="204826"/>
                      <a:pt x="1771768" y="216128"/>
                    </a:cubicBezTo>
                    <a:cubicBezTo>
                      <a:pt x="1760466" y="227430"/>
                      <a:pt x="1745137" y="233779"/>
                      <a:pt x="1729154" y="233779"/>
                    </a:cubicBezTo>
                    <a:lnTo>
                      <a:pt x="60265" y="233779"/>
                    </a:lnTo>
                    <a:cubicBezTo>
                      <a:pt x="44282" y="233779"/>
                      <a:pt x="28953" y="227430"/>
                      <a:pt x="17651" y="216128"/>
                    </a:cubicBezTo>
                    <a:cubicBezTo>
                      <a:pt x="6349" y="204826"/>
                      <a:pt x="0" y="189498"/>
                      <a:pt x="0" y="173514"/>
                    </a:cubicBezTo>
                    <a:lnTo>
                      <a:pt x="0" y="60265"/>
                    </a:lnTo>
                    <a:cubicBezTo>
                      <a:pt x="0" y="44282"/>
                      <a:pt x="6349" y="28953"/>
                      <a:pt x="17651" y="17651"/>
                    </a:cubicBezTo>
                    <a:cubicBezTo>
                      <a:pt x="28953" y="6349"/>
                      <a:pt x="44282" y="0"/>
                      <a:pt x="60265" y="0"/>
                    </a:cubicBezTo>
                    <a:close/>
                  </a:path>
                </a:pathLst>
              </a:custGeom>
              <a:solidFill>
                <a:srgbClr val="E9ACA0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1789419" cy="2718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404619" y="3049745"/>
              <a:ext cx="8735593" cy="985067"/>
              <a:chOff x="0" y="0"/>
              <a:chExt cx="1789419" cy="201783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789419" cy="201783"/>
              </a:xfrm>
              <a:custGeom>
                <a:avLst/>
                <a:gdLst/>
                <a:ahLst/>
                <a:cxnLst/>
                <a:rect r="r" b="b" t="t" l="l"/>
                <a:pathLst>
                  <a:path h="201783" w="1789419">
                    <a:moveTo>
                      <a:pt x="60265" y="0"/>
                    </a:moveTo>
                    <a:lnTo>
                      <a:pt x="1729154" y="0"/>
                    </a:lnTo>
                    <a:cubicBezTo>
                      <a:pt x="1762438" y="0"/>
                      <a:pt x="1789419" y="26982"/>
                      <a:pt x="1789419" y="60265"/>
                    </a:cubicBezTo>
                    <a:lnTo>
                      <a:pt x="1789419" y="141518"/>
                    </a:lnTo>
                    <a:cubicBezTo>
                      <a:pt x="1789419" y="157502"/>
                      <a:pt x="1783070" y="172830"/>
                      <a:pt x="1771768" y="184132"/>
                    </a:cubicBezTo>
                    <a:cubicBezTo>
                      <a:pt x="1760466" y="195434"/>
                      <a:pt x="1745137" y="201783"/>
                      <a:pt x="1729154" y="201783"/>
                    </a:cubicBezTo>
                    <a:lnTo>
                      <a:pt x="60265" y="201783"/>
                    </a:lnTo>
                    <a:cubicBezTo>
                      <a:pt x="44282" y="201783"/>
                      <a:pt x="28953" y="195434"/>
                      <a:pt x="17651" y="184132"/>
                    </a:cubicBezTo>
                    <a:cubicBezTo>
                      <a:pt x="6349" y="172830"/>
                      <a:pt x="0" y="157502"/>
                      <a:pt x="0" y="141518"/>
                    </a:cubicBezTo>
                    <a:lnTo>
                      <a:pt x="0" y="60265"/>
                    </a:lnTo>
                    <a:cubicBezTo>
                      <a:pt x="0" y="44282"/>
                      <a:pt x="6349" y="28953"/>
                      <a:pt x="17651" y="17651"/>
                    </a:cubicBezTo>
                    <a:cubicBezTo>
                      <a:pt x="28953" y="6349"/>
                      <a:pt x="44282" y="0"/>
                      <a:pt x="60265" y="0"/>
                    </a:cubicBezTo>
                    <a:close/>
                  </a:path>
                </a:pathLst>
              </a:custGeom>
              <a:solidFill>
                <a:srgbClr val="E9ACA0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1789419" cy="23988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404619" y="4179210"/>
              <a:ext cx="8735593" cy="1229033"/>
              <a:chOff x="0" y="0"/>
              <a:chExt cx="1789419" cy="251758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789419" cy="251758"/>
              </a:xfrm>
              <a:custGeom>
                <a:avLst/>
                <a:gdLst/>
                <a:ahLst/>
                <a:cxnLst/>
                <a:rect r="r" b="b" t="t" l="l"/>
                <a:pathLst>
                  <a:path h="251758" w="1789419">
                    <a:moveTo>
                      <a:pt x="60265" y="0"/>
                    </a:moveTo>
                    <a:lnTo>
                      <a:pt x="1729154" y="0"/>
                    </a:lnTo>
                    <a:cubicBezTo>
                      <a:pt x="1762438" y="0"/>
                      <a:pt x="1789419" y="26982"/>
                      <a:pt x="1789419" y="60265"/>
                    </a:cubicBezTo>
                    <a:lnTo>
                      <a:pt x="1789419" y="191493"/>
                    </a:lnTo>
                    <a:cubicBezTo>
                      <a:pt x="1789419" y="207476"/>
                      <a:pt x="1783070" y="222805"/>
                      <a:pt x="1771768" y="234107"/>
                    </a:cubicBezTo>
                    <a:cubicBezTo>
                      <a:pt x="1760466" y="245409"/>
                      <a:pt x="1745137" y="251758"/>
                      <a:pt x="1729154" y="251758"/>
                    </a:cubicBezTo>
                    <a:lnTo>
                      <a:pt x="60265" y="251758"/>
                    </a:lnTo>
                    <a:cubicBezTo>
                      <a:pt x="44282" y="251758"/>
                      <a:pt x="28953" y="245409"/>
                      <a:pt x="17651" y="234107"/>
                    </a:cubicBezTo>
                    <a:cubicBezTo>
                      <a:pt x="6349" y="222805"/>
                      <a:pt x="0" y="207476"/>
                      <a:pt x="0" y="191493"/>
                    </a:cubicBezTo>
                    <a:lnTo>
                      <a:pt x="0" y="60265"/>
                    </a:lnTo>
                    <a:cubicBezTo>
                      <a:pt x="0" y="44282"/>
                      <a:pt x="6349" y="28953"/>
                      <a:pt x="17651" y="17651"/>
                    </a:cubicBezTo>
                    <a:cubicBezTo>
                      <a:pt x="28953" y="6349"/>
                      <a:pt x="44282" y="0"/>
                      <a:pt x="60265" y="0"/>
                    </a:cubicBezTo>
                    <a:close/>
                  </a:path>
                </a:pathLst>
              </a:custGeom>
              <a:solidFill>
                <a:srgbClr val="E9ACA0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1789419" cy="2898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52" id="52"/>
            <p:cNvSpPr/>
            <p:nvPr/>
          </p:nvSpPr>
          <p:spPr>
            <a:xfrm flipH="false" flipV="false" rot="0">
              <a:off x="3750560" y="301437"/>
              <a:ext cx="1540013" cy="1540013"/>
            </a:xfrm>
            <a:custGeom>
              <a:avLst/>
              <a:gdLst/>
              <a:ahLst/>
              <a:cxnLst/>
              <a:rect r="r" b="b" t="t" l="l"/>
              <a:pathLst>
                <a:path h="1540013" w="1540013">
                  <a:moveTo>
                    <a:pt x="0" y="0"/>
                  </a:moveTo>
                  <a:lnTo>
                    <a:pt x="1540013" y="0"/>
                  </a:lnTo>
                  <a:lnTo>
                    <a:pt x="1540013" y="1540013"/>
                  </a:lnTo>
                  <a:lnTo>
                    <a:pt x="0" y="1540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 rot="0">
              <a:off x="837347" y="1969361"/>
              <a:ext cx="8433806" cy="3570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34"/>
                </a:lnSpc>
                <a:spcBef>
                  <a:spcPct val="0"/>
                </a:spcBef>
              </a:pPr>
              <a:r>
                <a:rPr lang="en-US" b="true" sz="1310">
                  <a:solidFill>
                    <a:srgbClr val="661414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Ope</a:t>
              </a:r>
              <a:r>
                <a:rPr lang="en-US" b="true" sz="1310">
                  <a:solidFill>
                    <a:srgbClr val="661414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n-Source Foundation</a:t>
              </a:r>
            </a:p>
            <a:p>
              <a:pPr algn="l" marL="282951" indent="-141475" lvl="1">
                <a:lnSpc>
                  <a:spcPts val="183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310">
                  <a:solidFill>
                    <a:srgbClr val="661414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Core analysis tools are open-source, reducing development costs.</a:t>
              </a:r>
            </a:p>
            <a:p>
              <a:pPr algn="l">
                <a:lnSpc>
                  <a:spcPts val="1834"/>
                </a:lnSpc>
                <a:spcBef>
                  <a:spcPct val="0"/>
                </a:spcBef>
              </a:pPr>
            </a:p>
            <a:p>
              <a:pPr algn="l">
                <a:lnSpc>
                  <a:spcPts val="1834"/>
                </a:lnSpc>
                <a:spcBef>
                  <a:spcPct val="0"/>
                </a:spcBef>
              </a:pPr>
            </a:p>
            <a:p>
              <a:pPr algn="l">
                <a:lnSpc>
                  <a:spcPts val="1834"/>
                </a:lnSpc>
                <a:spcBef>
                  <a:spcPct val="0"/>
                </a:spcBef>
              </a:pPr>
              <a:r>
                <a:rPr lang="en-US" b="true" sz="1310">
                  <a:solidFill>
                    <a:srgbClr val="661414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Reduced Investigation Costs</a:t>
              </a:r>
            </a:p>
            <a:p>
              <a:pPr algn="l" marL="282951" indent="-141475" lvl="1">
                <a:lnSpc>
                  <a:spcPts val="183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310">
                  <a:solidFill>
                    <a:srgbClr val="661414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Cuts manual malware analysis time from hours to minutes.</a:t>
              </a:r>
            </a:p>
            <a:p>
              <a:pPr algn="l">
                <a:lnSpc>
                  <a:spcPts val="1834"/>
                </a:lnSpc>
                <a:spcBef>
                  <a:spcPct val="0"/>
                </a:spcBef>
              </a:pPr>
            </a:p>
            <a:p>
              <a:pPr algn="l">
                <a:lnSpc>
                  <a:spcPts val="1834"/>
                </a:lnSpc>
                <a:spcBef>
                  <a:spcPct val="0"/>
                </a:spcBef>
              </a:pPr>
            </a:p>
            <a:p>
              <a:pPr algn="l">
                <a:lnSpc>
                  <a:spcPts val="1834"/>
                </a:lnSpc>
                <a:spcBef>
                  <a:spcPct val="0"/>
                </a:spcBef>
              </a:pPr>
              <a:r>
                <a:rPr lang="en-US" b="true" sz="1310">
                  <a:solidFill>
                    <a:srgbClr val="661414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High Industry Demand</a:t>
              </a:r>
            </a:p>
            <a:p>
              <a:pPr algn="l" marL="282951" indent="-141475" lvl="1">
                <a:lnSpc>
                  <a:spcPts val="1834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310">
                  <a:solidFill>
                    <a:srgbClr val="661414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Banks, fintech firms, CERT teams, and cybersecurity companies require rapid threat investigation.</a:t>
              </a:r>
            </a:p>
            <a:p>
              <a:pPr algn="l">
                <a:lnSpc>
                  <a:spcPts val="183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289400" y="843320"/>
            <a:ext cx="3795952" cy="750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50"/>
              </a:lnSpc>
              <a:spcBef>
                <a:spcPct val="0"/>
              </a:spcBef>
            </a:pPr>
            <a:r>
              <a:rPr lang="en-US" b="true" sz="4958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FEASIBILITY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687464" y="6446576"/>
            <a:ext cx="6335936" cy="338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3D31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Banks Already Need This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Growing APK-based financial fraud requires faster detection and response.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3D31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Technology Is Available Today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All required tools, APIs, and AI models already exist and can be integrated.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3D31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Significant Time Savings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Reduces investigation effort from several hours to a few minutes.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748648">
            <a:off x="-4710219" y="-3966823"/>
            <a:ext cx="13730710" cy="14361545"/>
          </a:xfrm>
          <a:custGeom>
            <a:avLst/>
            <a:gdLst/>
            <a:ahLst/>
            <a:cxnLst/>
            <a:rect r="r" b="b" t="t" l="l"/>
            <a:pathLst>
              <a:path h="14361545" w="13730710">
                <a:moveTo>
                  <a:pt x="13730709" y="14361545"/>
                </a:moveTo>
                <a:lnTo>
                  <a:pt x="0" y="14361545"/>
                </a:lnTo>
                <a:lnTo>
                  <a:pt x="0" y="0"/>
                </a:lnTo>
                <a:lnTo>
                  <a:pt x="13730709" y="0"/>
                </a:lnTo>
                <a:lnTo>
                  <a:pt x="13730709" y="1436154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02519" y="1500939"/>
            <a:ext cx="12878817" cy="13470514"/>
          </a:xfrm>
          <a:custGeom>
            <a:avLst/>
            <a:gdLst/>
            <a:ahLst/>
            <a:cxnLst/>
            <a:rect r="r" b="b" t="t" l="l"/>
            <a:pathLst>
              <a:path h="13470514" w="12878817">
                <a:moveTo>
                  <a:pt x="0" y="0"/>
                </a:moveTo>
                <a:lnTo>
                  <a:pt x="12878817" y="0"/>
                </a:lnTo>
                <a:lnTo>
                  <a:pt x="12878817" y="13470514"/>
                </a:lnTo>
                <a:lnTo>
                  <a:pt x="0" y="134705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76123" y="1187414"/>
            <a:ext cx="7058049" cy="4548619"/>
            <a:chOff x="0" y="0"/>
            <a:chExt cx="1858910" cy="11979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58910" cy="1197990"/>
            </a:xfrm>
            <a:custGeom>
              <a:avLst/>
              <a:gdLst/>
              <a:ahLst/>
              <a:cxnLst/>
              <a:rect r="r" b="b" t="t" l="l"/>
              <a:pathLst>
                <a:path h="1197990" w="1858910">
                  <a:moveTo>
                    <a:pt x="109689" y="0"/>
                  </a:moveTo>
                  <a:lnTo>
                    <a:pt x="1749221" y="0"/>
                  </a:lnTo>
                  <a:cubicBezTo>
                    <a:pt x="1778312" y="0"/>
                    <a:pt x="1806212" y="11557"/>
                    <a:pt x="1826783" y="32127"/>
                  </a:cubicBezTo>
                  <a:cubicBezTo>
                    <a:pt x="1847354" y="52698"/>
                    <a:pt x="1858910" y="80598"/>
                    <a:pt x="1858910" y="109689"/>
                  </a:cubicBezTo>
                  <a:lnTo>
                    <a:pt x="1858910" y="1088301"/>
                  </a:lnTo>
                  <a:cubicBezTo>
                    <a:pt x="1858910" y="1117392"/>
                    <a:pt x="1847354" y="1145292"/>
                    <a:pt x="1826783" y="1165863"/>
                  </a:cubicBezTo>
                  <a:cubicBezTo>
                    <a:pt x="1806212" y="1186434"/>
                    <a:pt x="1778312" y="1197990"/>
                    <a:pt x="1749221" y="1197990"/>
                  </a:cubicBezTo>
                  <a:lnTo>
                    <a:pt x="109689" y="1197990"/>
                  </a:lnTo>
                  <a:cubicBezTo>
                    <a:pt x="49110" y="1197990"/>
                    <a:pt x="0" y="1148881"/>
                    <a:pt x="0" y="1088301"/>
                  </a:cubicBezTo>
                  <a:lnTo>
                    <a:pt x="0" y="109689"/>
                  </a:lnTo>
                  <a:cubicBezTo>
                    <a:pt x="0" y="80598"/>
                    <a:pt x="11557" y="52698"/>
                    <a:pt x="32127" y="32127"/>
                  </a:cubicBezTo>
                  <a:cubicBezTo>
                    <a:pt x="52698" y="11557"/>
                    <a:pt x="80598" y="0"/>
                    <a:pt x="109689" y="0"/>
                  </a:cubicBezTo>
                  <a:close/>
                </a:path>
              </a:pathLst>
            </a:custGeom>
            <a:solidFill>
              <a:srgbClr val="C4EBF5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858910" cy="12456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76123" y="5736033"/>
            <a:ext cx="9391167" cy="3735644"/>
            <a:chOff x="0" y="0"/>
            <a:chExt cx="2473394" cy="9838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73394" cy="983873"/>
            </a:xfrm>
            <a:custGeom>
              <a:avLst/>
              <a:gdLst/>
              <a:ahLst/>
              <a:cxnLst/>
              <a:rect r="r" b="b" t="t" l="l"/>
              <a:pathLst>
                <a:path h="983873" w="2473394">
                  <a:moveTo>
                    <a:pt x="82438" y="0"/>
                  </a:moveTo>
                  <a:lnTo>
                    <a:pt x="2390955" y="0"/>
                  </a:lnTo>
                  <a:cubicBezTo>
                    <a:pt x="2412819" y="0"/>
                    <a:pt x="2433788" y="8685"/>
                    <a:pt x="2449248" y="24146"/>
                  </a:cubicBezTo>
                  <a:cubicBezTo>
                    <a:pt x="2464708" y="39606"/>
                    <a:pt x="2473394" y="60574"/>
                    <a:pt x="2473394" y="82438"/>
                  </a:cubicBezTo>
                  <a:lnTo>
                    <a:pt x="2473394" y="901435"/>
                  </a:lnTo>
                  <a:cubicBezTo>
                    <a:pt x="2473394" y="946964"/>
                    <a:pt x="2436485" y="983873"/>
                    <a:pt x="2390955" y="983873"/>
                  </a:cubicBezTo>
                  <a:lnTo>
                    <a:pt x="82438" y="983873"/>
                  </a:lnTo>
                  <a:cubicBezTo>
                    <a:pt x="60574" y="983873"/>
                    <a:pt x="39606" y="975188"/>
                    <a:pt x="24146" y="959728"/>
                  </a:cubicBezTo>
                  <a:cubicBezTo>
                    <a:pt x="8685" y="944267"/>
                    <a:pt x="0" y="923299"/>
                    <a:pt x="0" y="901435"/>
                  </a:cubicBezTo>
                  <a:lnTo>
                    <a:pt x="0" y="82438"/>
                  </a:lnTo>
                  <a:cubicBezTo>
                    <a:pt x="0" y="60574"/>
                    <a:pt x="8685" y="39606"/>
                    <a:pt x="24146" y="24146"/>
                  </a:cubicBezTo>
                  <a:cubicBezTo>
                    <a:pt x="39606" y="8685"/>
                    <a:pt x="60574" y="0"/>
                    <a:pt x="82438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473394" cy="1031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797067" y="564727"/>
            <a:ext cx="3808732" cy="463973"/>
          </a:xfrm>
          <a:custGeom>
            <a:avLst/>
            <a:gdLst/>
            <a:ahLst/>
            <a:cxnLst/>
            <a:rect r="r" b="b" t="t" l="l"/>
            <a:pathLst>
              <a:path h="463973" w="3808732">
                <a:moveTo>
                  <a:pt x="0" y="0"/>
                </a:moveTo>
                <a:lnTo>
                  <a:pt x="3808732" y="0"/>
                </a:lnTo>
                <a:lnTo>
                  <a:pt x="3808732" y="463973"/>
                </a:lnTo>
                <a:lnTo>
                  <a:pt x="0" y="4639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26180" y="4479276"/>
            <a:ext cx="8757870" cy="5302492"/>
          </a:xfrm>
          <a:custGeom>
            <a:avLst/>
            <a:gdLst/>
            <a:ahLst/>
            <a:cxnLst/>
            <a:rect r="r" b="b" t="t" l="l"/>
            <a:pathLst>
              <a:path h="5302492" w="8757870">
                <a:moveTo>
                  <a:pt x="0" y="0"/>
                </a:moveTo>
                <a:lnTo>
                  <a:pt x="8757870" y="0"/>
                </a:lnTo>
                <a:lnTo>
                  <a:pt x="8757870" y="5302492"/>
                </a:lnTo>
                <a:lnTo>
                  <a:pt x="0" y="53024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202173" y="3086100"/>
            <a:ext cx="2991746" cy="3002664"/>
          </a:xfrm>
          <a:custGeom>
            <a:avLst/>
            <a:gdLst/>
            <a:ahLst/>
            <a:cxnLst/>
            <a:rect r="r" b="b" t="t" l="l"/>
            <a:pathLst>
              <a:path h="3002664" w="2991746">
                <a:moveTo>
                  <a:pt x="0" y="0"/>
                </a:moveTo>
                <a:lnTo>
                  <a:pt x="2991746" y="0"/>
                </a:lnTo>
                <a:lnTo>
                  <a:pt x="2991746" y="3002664"/>
                </a:lnTo>
                <a:lnTo>
                  <a:pt x="0" y="30026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471390" y="5029200"/>
            <a:ext cx="5816610" cy="3674674"/>
            <a:chOff x="0" y="0"/>
            <a:chExt cx="1531947" cy="9678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31947" cy="967815"/>
            </a:xfrm>
            <a:custGeom>
              <a:avLst/>
              <a:gdLst/>
              <a:ahLst/>
              <a:cxnLst/>
              <a:rect r="r" b="b" t="t" l="l"/>
              <a:pathLst>
                <a:path h="967815" w="1531947">
                  <a:moveTo>
                    <a:pt x="0" y="0"/>
                  </a:moveTo>
                  <a:lnTo>
                    <a:pt x="1531947" y="0"/>
                  </a:lnTo>
                  <a:lnTo>
                    <a:pt x="1531947" y="967815"/>
                  </a:lnTo>
                  <a:lnTo>
                    <a:pt x="0" y="96781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531947" cy="1015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483207" y="5026796"/>
            <a:ext cx="5804793" cy="3677078"/>
            <a:chOff x="0" y="0"/>
            <a:chExt cx="6919023" cy="43828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19087" cy="4382905"/>
            </a:xfrm>
            <a:custGeom>
              <a:avLst/>
              <a:gdLst/>
              <a:ahLst/>
              <a:cxnLst/>
              <a:rect r="r" b="b" t="t" l="l"/>
              <a:pathLst>
                <a:path h="4382905" w="6919087">
                  <a:moveTo>
                    <a:pt x="190500" y="0"/>
                  </a:moveTo>
                  <a:cubicBezTo>
                    <a:pt x="85344" y="0"/>
                    <a:pt x="0" y="88696"/>
                    <a:pt x="0" y="197981"/>
                  </a:cubicBezTo>
                  <a:lnTo>
                    <a:pt x="0" y="4184925"/>
                  </a:lnTo>
                  <a:cubicBezTo>
                    <a:pt x="0" y="4294210"/>
                    <a:pt x="85344" y="4382905"/>
                    <a:pt x="190500" y="4382905"/>
                  </a:cubicBezTo>
                  <a:lnTo>
                    <a:pt x="6728587" y="4382905"/>
                  </a:lnTo>
                  <a:cubicBezTo>
                    <a:pt x="6833743" y="4382905"/>
                    <a:pt x="6919087" y="4294210"/>
                    <a:pt x="6919087" y="4184925"/>
                  </a:cubicBezTo>
                  <a:lnTo>
                    <a:pt x="6919087" y="197981"/>
                  </a:lnTo>
                  <a:cubicBezTo>
                    <a:pt x="6919087" y="88696"/>
                    <a:pt x="6833743" y="0"/>
                    <a:pt x="6728587" y="0"/>
                  </a:cubicBezTo>
                  <a:close/>
                </a:path>
              </a:pathLst>
            </a:custGeom>
            <a:blipFill>
              <a:blip r:embed="rId10"/>
              <a:stretch>
                <a:fillRect l="-676" t="0" r="-676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619512" y="1500939"/>
            <a:ext cx="6582661" cy="400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6"/>
              </a:lnSpc>
              <a:spcBef>
                <a:spcPct val="0"/>
              </a:spcBef>
            </a:pPr>
            <a:r>
              <a:rPr lang="en-US" sz="660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</a:t>
            </a:r>
            <a:r>
              <a:rPr lang="en-US" sz="660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 Core Innovation: AI as an Active Analyst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29392" y="5947427"/>
            <a:ext cx="8532768" cy="339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4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 doesn't just summarize — it perfo</a:t>
            </a:r>
            <a:r>
              <a:rPr lang="en-US" sz="24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rms four specialist analyst roles: </a:t>
            </a:r>
          </a:p>
          <a:p>
            <a:pPr algn="l" marL="521967" indent="-260983" lvl="1">
              <a:lnSpc>
                <a:spcPts val="2901"/>
              </a:lnSpc>
              <a:buAutoNum type="arabicPeriod" startAt="1"/>
            </a:pPr>
            <a:r>
              <a:rPr lang="en-US" b="true" sz="2417">
                <a:solidFill>
                  <a:srgbClr val="00BF6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Code Analyst</a:t>
            </a:r>
            <a:r>
              <a:rPr lang="en-US" sz="24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reading decompiled Java for hidden theft logic</a:t>
            </a:r>
          </a:p>
          <a:p>
            <a:pPr algn="l" marL="521967" indent="-260983" lvl="1">
              <a:lnSpc>
                <a:spcPts val="2901"/>
              </a:lnSpc>
              <a:buAutoNum type="arabicPeriod" startAt="1"/>
            </a:pPr>
            <a:r>
              <a:rPr lang="en-US" sz="24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b="true" sz="2417">
                <a:solidFill>
                  <a:srgbClr val="00BF6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Pattern Correlator</a:t>
            </a:r>
            <a:r>
              <a:rPr lang="en-US" sz="24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linking clues into an attack story</a:t>
            </a:r>
          </a:p>
          <a:p>
            <a:pPr algn="l" marL="521967" indent="-260983" lvl="1">
              <a:lnSpc>
                <a:spcPts val="2901"/>
              </a:lnSpc>
              <a:buAutoNum type="arabicPeriod" startAt="1"/>
            </a:pPr>
            <a:r>
              <a:rPr lang="en-US" b="true" sz="2417">
                <a:solidFill>
                  <a:srgbClr val="00BF6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Independent Behavioral Classifier</a:t>
            </a:r>
            <a:r>
              <a:rPr lang="en-US" sz="24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identifying malware from runtime behavior alone</a:t>
            </a:r>
          </a:p>
          <a:p>
            <a:pPr algn="l" marL="521967" indent="-260983" lvl="1">
              <a:lnSpc>
                <a:spcPts val="2901"/>
              </a:lnSpc>
              <a:buAutoNum type="arabicPeriod" startAt="1"/>
            </a:pPr>
            <a:r>
              <a:rPr lang="en-US" b="true" sz="2417">
                <a:solidFill>
                  <a:srgbClr val="00BF6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Investigation Writer</a:t>
            </a:r>
            <a:r>
              <a:rPr lang="en-US" sz="241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producing the final plain-English report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748648">
            <a:off x="-4710219" y="-3966823"/>
            <a:ext cx="13730710" cy="14361545"/>
          </a:xfrm>
          <a:custGeom>
            <a:avLst/>
            <a:gdLst/>
            <a:ahLst/>
            <a:cxnLst/>
            <a:rect r="r" b="b" t="t" l="l"/>
            <a:pathLst>
              <a:path h="14361545" w="13730710">
                <a:moveTo>
                  <a:pt x="13730709" y="14361545"/>
                </a:moveTo>
                <a:lnTo>
                  <a:pt x="0" y="14361545"/>
                </a:lnTo>
                <a:lnTo>
                  <a:pt x="0" y="0"/>
                </a:lnTo>
                <a:lnTo>
                  <a:pt x="13730709" y="0"/>
                </a:lnTo>
                <a:lnTo>
                  <a:pt x="13730709" y="1436154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65782" y="2002326"/>
            <a:ext cx="6639410" cy="3631499"/>
            <a:chOff x="0" y="0"/>
            <a:chExt cx="1748651" cy="9564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8651" cy="956444"/>
            </a:xfrm>
            <a:custGeom>
              <a:avLst/>
              <a:gdLst/>
              <a:ahLst/>
              <a:cxnLst/>
              <a:rect r="r" b="b" t="t" l="l"/>
              <a:pathLst>
                <a:path h="956444" w="1748651">
                  <a:moveTo>
                    <a:pt x="116606" y="0"/>
                  </a:moveTo>
                  <a:lnTo>
                    <a:pt x="1632046" y="0"/>
                  </a:lnTo>
                  <a:cubicBezTo>
                    <a:pt x="1662971" y="0"/>
                    <a:pt x="1692630" y="12285"/>
                    <a:pt x="1714498" y="34153"/>
                  </a:cubicBezTo>
                  <a:cubicBezTo>
                    <a:pt x="1736366" y="56021"/>
                    <a:pt x="1748651" y="85680"/>
                    <a:pt x="1748651" y="116606"/>
                  </a:cubicBezTo>
                  <a:lnTo>
                    <a:pt x="1748651" y="839838"/>
                  </a:lnTo>
                  <a:cubicBezTo>
                    <a:pt x="1748651" y="904238"/>
                    <a:pt x="1696445" y="956444"/>
                    <a:pt x="1632046" y="956444"/>
                  </a:cubicBezTo>
                  <a:lnTo>
                    <a:pt x="116606" y="956444"/>
                  </a:lnTo>
                  <a:cubicBezTo>
                    <a:pt x="52206" y="956444"/>
                    <a:pt x="0" y="904238"/>
                    <a:pt x="0" y="839838"/>
                  </a:cubicBezTo>
                  <a:lnTo>
                    <a:pt x="0" y="116606"/>
                  </a:lnTo>
                  <a:cubicBezTo>
                    <a:pt x="0" y="52206"/>
                    <a:pt x="52206" y="0"/>
                    <a:pt x="116606" y="0"/>
                  </a:cubicBezTo>
                  <a:close/>
                </a:path>
              </a:pathLst>
            </a:custGeom>
            <a:solidFill>
              <a:srgbClr val="C4EBF5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48651" cy="1004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219841" y="291562"/>
            <a:ext cx="9848638" cy="9702673"/>
            <a:chOff x="0" y="0"/>
            <a:chExt cx="2593880" cy="25554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93880" cy="2555436"/>
            </a:xfrm>
            <a:custGeom>
              <a:avLst/>
              <a:gdLst/>
              <a:ahLst/>
              <a:cxnLst/>
              <a:rect r="r" b="b" t="t" l="l"/>
              <a:pathLst>
                <a:path h="2555436" w="2593880">
                  <a:moveTo>
                    <a:pt x="78609" y="0"/>
                  </a:moveTo>
                  <a:lnTo>
                    <a:pt x="2515271" y="0"/>
                  </a:lnTo>
                  <a:cubicBezTo>
                    <a:pt x="2558685" y="0"/>
                    <a:pt x="2593880" y="35194"/>
                    <a:pt x="2593880" y="78609"/>
                  </a:cubicBezTo>
                  <a:lnTo>
                    <a:pt x="2593880" y="2476827"/>
                  </a:lnTo>
                  <a:cubicBezTo>
                    <a:pt x="2593880" y="2497676"/>
                    <a:pt x="2585598" y="2517670"/>
                    <a:pt x="2570856" y="2532412"/>
                  </a:cubicBezTo>
                  <a:cubicBezTo>
                    <a:pt x="2556114" y="2547154"/>
                    <a:pt x="2536119" y="2555436"/>
                    <a:pt x="2515271" y="2555436"/>
                  </a:cubicBezTo>
                  <a:lnTo>
                    <a:pt x="78609" y="2555436"/>
                  </a:lnTo>
                  <a:cubicBezTo>
                    <a:pt x="57761" y="2555436"/>
                    <a:pt x="37766" y="2547154"/>
                    <a:pt x="23024" y="2532412"/>
                  </a:cubicBezTo>
                  <a:cubicBezTo>
                    <a:pt x="8282" y="2517670"/>
                    <a:pt x="0" y="2497676"/>
                    <a:pt x="0" y="2476827"/>
                  </a:cubicBezTo>
                  <a:lnTo>
                    <a:pt x="0" y="78609"/>
                  </a:lnTo>
                  <a:cubicBezTo>
                    <a:pt x="0" y="57761"/>
                    <a:pt x="8282" y="37766"/>
                    <a:pt x="23024" y="23024"/>
                  </a:cubicBezTo>
                  <a:cubicBezTo>
                    <a:pt x="37766" y="8282"/>
                    <a:pt x="57761" y="0"/>
                    <a:pt x="78609" y="0"/>
                  </a:cubicBezTo>
                  <a:close/>
                </a:path>
              </a:pathLst>
            </a:custGeom>
            <a:solidFill>
              <a:srgbClr val="FFFFFF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593880" cy="2603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598786" y="1395836"/>
            <a:ext cx="606490" cy="606490"/>
          </a:xfrm>
          <a:custGeom>
            <a:avLst/>
            <a:gdLst/>
            <a:ahLst/>
            <a:cxnLst/>
            <a:rect r="r" b="b" t="t" l="l"/>
            <a:pathLst>
              <a:path h="606490" w="606490">
                <a:moveTo>
                  <a:pt x="0" y="0"/>
                </a:moveTo>
                <a:lnTo>
                  <a:pt x="606490" y="0"/>
                </a:lnTo>
                <a:lnTo>
                  <a:pt x="606490" y="606490"/>
                </a:lnTo>
                <a:lnTo>
                  <a:pt x="0" y="60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503934" y="2373396"/>
            <a:ext cx="796195" cy="393121"/>
          </a:xfrm>
          <a:custGeom>
            <a:avLst/>
            <a:gdLst/>
            <a:ahLst/>
            <a:cxnLst/>
            <a:rect r="r" b="b" t="t" l="l"/>
            <a:pathLst>
              <a:path h="393121" w="796195">
                <a:moveTo>
                  <a:pt x="0" y="0"/>
                </a:moveTo>
                <a:lnTo>
                  <a:pt x="796194" y="0"/>
                </a:lnTo>
                <a:lnTo>
                  <a:pt x="796194" y="393121"/>
                </a:lnTo>
                <a:lnTo>
                  <a:pt x="0" y="3931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503934" y="3609452"/>
            <a:ext cx="796195" cy="380183"/>
          </a:xfrm>
          <a:custGeom>
            <a:avLst/>
            <a:gdLst/>
            <a:ahLst/>
            <a:cxnLst/>
            <a:rect r="r" b="b" t="t" l="l"/>
            <a:pathLst>
              <a:path h="380183" w="796195">
                <a:moveTo>
                  <a:pt x="0" y="0"/>
                </a:moveTo>
                <a:lnTo>
                  <a:pt x="796194" y="0"/>
                </a:lnTo>
                <a:lnTo>
                  <a:pt x="796194" y="380183"/>
                </a:lnTo>
                <a:lnTo>
                  <a:pt x="0" y="3801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28980" y="4361110"/>
            <a:ext cx="871148" cy="544468"/>
          </a:xfrm>
          <a:custGeom>
            <a:avLst/>
            <a:gdLst/>
            <a:ahLst/>
            <a:cxnLst/>
            <a:rect r="r" b="b" t="t" l="l"/>
            <a:pathLst>
              <a:path h="544468" w="871148">
                <a:moveTo>
                  <a:pt x="0" y="0"/>
                </a:moveTo>
                <a:lnTo>
                  <a:pt x="871148" y="0"/>
                </a:lnTo>
                <a:lnTo>
                  <a:pt x="871148" y="544468"/>
                </a:lnTo>
                <a:lnTo>
                  <a:pt x="0" y="5444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303223" y="6211441"/>
            <a:ext cx="1197616" cy="673659"/>
          </a:xfrm>
          <a:custGeom>
            <a:avLst/>
            <a:gdLst/>
            <a:ahLst/>
            <a:cxnLst/>
            <a:rect r="r" b="b" t="t" l="l"/>
            <a:pathLst>
              <a:path h="673659" w="1197616">
                <a:moveTo>
                  <a:pt x="0" y="0"/>
                </a:moveTo>
                <a:lnTo>
                  <a:pt x="1197616" y="0"/>
                </a:lnTo>
                <a:lnTo>
                  <a:pt x="1197616" y="673659"/>
                </a:lnTo>
                <a:lnTo>
                  <a:pt x="0" y="6736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503934" y="7256575"/>
            <a:ext cx="828804" cy="484850"/>
          </a:xfrm>
          <a:custGeom>
            <a:avLst/>
            <a:gdLst/>
            <a:ahLst/>
            <a:cxnLst/>
            <a:rect r="r" b="b" t="t" l="l"/>
            <a:pathLst>
              <a:path h="484850" w="828804">
                <a:moveTo>
                  <a:pt x="0" y="0"/>
                </a:moveTo>
                <a:lnTo>
                  <a:pt x="828804" y="0"/>
                </a:lnTo>
                <a:lnTo>
                  <a:pt x="828804" y="484850"/>
                </a:lnTo>
                <a:lnTo>
                  <a:pt x="0" y="4848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598786" y="8579625"/>
            <a:ext cx="662124" cy="496593"/>
          </a:xfrm>
          <a:custGeom>
            <a:avLst/>
            <a:gdLst/>
            <a:ahLst/>
            <a:cxnLst/>
            <a:rect r="r" b="b" t="t" l="l"/>
            <a:pathLst>
              <a:path h="496593" w="662124">
                <a:moveTo>
                  <a:pt x="0" y="0"/>
                </a:moveTo>
                <a:lnTo>
                  <a:pt x="662123" y="0"/>
                </a:lnTo>
                <a:lnTo>
                  <a:pt x="662123" y="496593"/>
                </a:lnTo>
                <a:lnTo>
                  <a:pt x="0" y="4965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50047" y="3451771"/>
            <a:ext cx="5470879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 stack</a:t>
            </a:r>
          </a:p>
          <a:p>
            <a:pPr algn="l">
              <a:lnSpc>
                <a:spcPts val="7926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073530" y="697230"/>
            <a:ext cx="8185770" cy="8854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Androguard: Selected because it provides fast, lightweight APK parsing without requiring heavy, complex frameworks.</a:t>
            </a:r>
          </a:p>
          <a:p>
            <a:pPr algn="l" marL="431797" indent="-215899" lvl="1">
              <a:lnSpc>
                <a:spcPts val="325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JADX: Chosen because it produces high-quality, readable Java source code that our AI can easily analyze.</a:t>
            </a:r>
          </a:p>
          <a:p>
            <a:pPr algn="l" marL="431797" indent="-215899" lvl="1">
              <a:lnSpc>
                <a:spcPts val="325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VirusTotal: Selected to instantly screen out known malware variants, saving valuable processing time and computing power.</a:t>
            </a:r>
          </a:p>
          <a:p>
            <a:pPr algn="l" marL="431797" indent="-215899" lvl="1">
              <a:lnSpc>
                <a:spcPts val="325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YARA: Chosen because it is the industry standard for matching code signatures and identifying specific malware families.</a:t>
            </a:r>
          </a:p>
          <a:p>
            <a:pPr algn="l" marL="431797" indent="-215899" lvl="1">
              <a:lnSpc>
                <a:spcPts val="325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Frida: Selected because its real-time API monitoring cannot be easily bypassed by malware that uses code obfuscation.</a:t>
            </a:r>
          </a:p>
          <a:p>
            <a:pPr algn="l" marL="431797" indent="-215899" lvl="1">
              <a:lnSpc>
                <a:spcPts val="325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Android Emulator: Chosen to provide a completely isolated, safe environment to execute and observe untrusted applications.</a:t>
            </a:r>
          </a:p>
          <a:p>
            <a:pPr algn="l" marL="431797" indent="-215899" lvl="1">
              <a:lnSpc>
                <a:spcPts val="325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Gemini: Selected because it offers a generous free tier and easily manages all four highly specialized AI analyst roles.</a:t>
            </a:r>
          </a:p>
          <a:p>
            <a:pPr algn="l" marL="431797" indent="-215899" lvl="1">
              <a:lnSpc>
                <a:spcPts val="325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Streamlit: Chosen because it allows the team to build a clean, professional web dashboard rapidly with minimal code overhead.</a:t>
            </a:r>
          </a:p>
          <a:p>
            <a:pPr algn="l" marL="431797" indent="-215899" lvl="1">
              <a:lnSpc>
                <a:spcPts val="325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Telegram: Selected because it mirrors real-world phishing delivery methods, keeping the user experience relevant to the problem statement.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75758" y="4656814"/>
            <a:ext cx="4584172" cy="2842187"/>
          </a:xfrm>
          <a:custGeom>
            <a:avLst/>
            <a:gdLst/>
            <a:ahLst/>
            <a:cxnLst/>
            <a:rect r="r" b="b" t="t" l="l"/>
            <a:pathLst>
              <a:path h="2842187" w="4584172">
                <a:moveTo>
                  <a:pt x="0" y="0"/>
                </a:moveTo>
                <a:lnTo>
                  <a:pt x="4584172" y="0"/>
                </a:lnTo>
                <a:lnTo>
                  <a:pt x="4584172" y="2842186"/>
                </a:lnTo>
                <a:lnTo>
                  <a:pt x="0" y="28421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748648">
            <a:off x="-4710219" y="-3966823"/>
            <a:ext cx="13730710" cy="14361545"/>
          </a:xfrm>
          <a:custGeom>
            <a:avLst/>
            <a:gdLst/>
            <a:ahLst/>
            <a:cxnLst/>
            <a:rect r="r" b="b" t="t" l="l"/>
            <a:pathLst>
              <a:path h="14361545" w="13730710">
                <a:moveTo>
                  <a:pt x="13730709" y="14361545"/>
                </a:moveTo>
                <a:lnTo>
                  <a:pt x="0" y="14361545"/>
                </a:lnTo>
                <a:lnTo>
                  <a:pt x="0" y="0"/>
                </a:lnTo>
                <a:lnTo>
                  <a:pt x="13730709" y="0"/>
                </a:lnTo>
                <a:lnTo>
                  <a:pt x="13730709" y="1436154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8367236">
            <a:off x="3618034" y="521255"/>
            <a:ext cx="2809083" cy="1654805"/>
          </a:xfrm>
          <a:custGeom>
            <a:avLst/>
            <a:gdLst/>
            <a:ahLst/>
            <a:cxnLst/>
            <a:rect r="r" b="b" t="t" l="l"/>
            <a:pathLst>
              <a:path h="1654805" w="2809083">
                <a:moveTo>
                  <a:pt x="2809083" y="0"/>
                </a:moveTo>
                <a:lnTo>
                  <a:pt x="0" y="0"/>
                </a:lnTo>
                <a:lnTo>
                  <a:pt x="0" y="1654805"/>
                </a:lnTo>
                <a:lnTo>
                  <a:pt x="2809083" y="1654805"/>
                </a:lnTo>
                <a:lnTo>
                  <a:pt x="280908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-1057701" y="3635210"/>
            <a:ext cx="7325232" cy="2764605"/>
            <a:chOff x="0" y="0"/>
            <a:chExt cx="3323081" cy="12541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23080" cy="1254159"/>
            </a:xfrm>
            <a:custGeom>
              <a:avLst/>
              <a:gdLst/>
              <a:ahLst/>
              <a:cxnLst/>
              <a:rect r="r" b="b" t="t" l="l"/>
              <a:pathLst>
                <a:path h="1254159" w="3323080">
                  <a:moveTo>
                    <a:pt x="105688" y="0"/>
                  </a:moveTo>
                  <a:lnTo>
                    <a:pt x="3217392" y="0"/>
                  </a:lnTo>
                  <a:cubicBezTo>
                    <a:pt x="3275762" y="0"/>
                    <a:pt x="3323080" y="47318"/>
                    <a:pt x="3323080" y="105688"/>
                  </a:cubicBezTo>
                  <a:lnTo>
                    <a:pt x="3323080" y="1148470"/>
                  </a:lnTo>
                  <a:cubicBezTo>
                    <a:pt x="3323080" y="1206841"/>
                    <a:pt x="3275762" y="1254159"/>
                    <a:pt x="3217392" y="1254159"/>
                  </a:cubicBezTo>
                  <a:lnTo>
                    <a:pt x="105688" y="1254159"/>
                  </a:lnTo>
                  <a:cubicBezTo>
                    <a:pt x="47318" y="1254159"/>
                    <a:pt x="0" y="1206841"/>
                    <a:pt x="0" y="1148470"/>
                  </a:cubicBezTo>
                  <a:lnTo>
                    <a:pt x="0" y="105688"/>
                  </a:lnTo>
                  <a:cubicBezTo>
                    <a:pt x="0" y="47318"/>
                    <a:pt x="47318" y="0"/>
                    <a:pt x="105688" y="0"/>
                  </a:cubicBezTo>
                  <a:close/>
                </a:path>
              </a:pathLst>
            </a:custGeom>
            <a:solidFill>
              <a:srgbClr val="C4EBF5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323081" cy="1301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-5400000">
            <a:off x="-277927" y="4205001"/>
            <a:ext cx="5765684" cy="1625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  <a:spcBef>
                <a:spcPct val="0"/>
              </a:spcBef>
            </a:pPr>
            <a:r>
              <a:rPr lang="en-US" sz="536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Phased implementation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580739" y="0"/>
            <a:ext cx="5863590" cy="10287000"/>
          </a:xfrm>
          <a:custGeom>
            <a:avLst/>
            <a:gdLst/>
            <a:ahLst/>
            <a:cxnLst/>
            <a:rect r="r" b="b" t="t" l="l"/>
            <a:pathLst>
              <a:path h="10287000" w="5863590">
                <a:moveTo>
                  <a:pt x="0" y="0"/>
                </a:moveTo>
                <a:lnTo>
                  <a:pt x="5863590" y="0"/>
                </a:lnTo>
                <a:lnTo>
                  <a:pt x="58635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621619" y="1307272"/>
            <a:ext cx="3781830" cy="58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Phase 1 (C</a:t>
            </a: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ore Pipeline)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68295" y="2842797"/>
            <a:ext cx="3593228" cy="568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Phase 2 (Th</a:t>
            </a: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reat Intel)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34831" y="4193737"/>
            <a:ext cx="4564906" cy="649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Phase 3 (Signatu</a:t>
            </a:r>
            <a:r>
              <a:rPr lang="en-US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 &amp; Logic)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32067" y="5676388"/>
            <a:ext cx="3960933" cy="59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Phase 4 (AI</a:t>
            </a: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Integration)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55985" y="7094758"/>
            <a:ext cx="4113097" cy="612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Phase 5 (Us</a:t>
            </a: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 Interfaces)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32747" y="8483042"/>
            <a:ext cx="4569074" cy="65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Phase 6 (Dynamic</a:t>
            </a:r>
            <a:r>
              <a:rPr lang="en-US" sz="24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Analysis)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53261" y="891974"/>
            <a:ext cx="5525580" cy="9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Implement Stage 0 and Stage 1 first. Focus entirely on downloading the APK, extracting permissions, and decompiling code with JADX.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53261" y="2533552"/>
            <a:ext cx="5336221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Integrate the VirusTotal API lookup and verify that the reputation checks work correctly.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53261" y="4091622"/>
            <a:ext cx="5801538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Add YARA rule scanning and build the baseline numeric risk-scoring system.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53261" y="5395912"/>
            <a:ext cx="5525580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Connect the Gemini API and implement the four distinct AI analyst prompts and roles.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53261" y="6809643"/>
            <a:ext cx="5525580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Build the Streamlit web dashboard and the Telegram bot interface to accept submissions.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08143" y="8218708"/>
            <a:ext cx="5570698" cy="999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If development time permits, set up the Android emulator environment, attach Frida instrumentation, and launch the Monkey automation tool.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2845883">
            <a:off x="3552545" y="6348960"/>
            <a:ext cx="1575732" cy="3834746"/>
          </a:xfrm>
          <a:custGeom>
            <a:avLst/>
            <a:gdLst/>
            <a:ahLst/>
            <a:cxnLst/>
            <a:rect r="r" b="b" t="t" l="l"/>
            <a:pathLst>
              <a:path h="3834746" w="1575732">
                <a:moveTo>
                  <a:pt x="0" y="0"/>
                </a:moveTo>
                <a:lnTo>
                  <a:pt x="1575732" y="0"/>
                </a:lnTo>
                <a:lnTo>
                  <a:pt x="1575732" y="3834746"/>
                </a:lnTo>
                <a:lnTo>
                  <a:pt x="0" y="38347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fade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C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DAHMXR5adAQ</dc:identifier>
  <dcterms:modified xsi:type="dcterms:W3CDTF">2011-08-01T06:04:30Z</dcterms:modified>
  <cp:revision>1</cp:revision>
  <dc:title>Red and Blue Modern Cyber Security Presentation</dc:title>
</cp:coreProperties>
</file>